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8" r:id="rId6"/>
    <p:sldId id="260" r:id="rId7"/>
    <p:sldId id="261" r:id="rId8"/>
    <p:sldId id="269" r:id="rId9"/>
    <p:sldId id="270" r:id="rId10"/>
    <p:sldId id="262" r:id="rId11"/>
    <p:sldId id="263" r:id="rId12"/>
    <p:sldId id="264"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53" autoAdjust="0"/>
    <p:restoredTop sz="94610"/>
  </p:normalViewPr>
  <p:slideViewPr>
    <p:cSldViewPr snapToGrid="0" snapToObjects="1">
      <p:cViewPr>
        <p:scale>
          <a:sx n="100" d="100"/>
          <a:sy n="100" d="100"/>
        </p:scale>
        <p:origin x="912"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9357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1204D-D15D-3108-D303-67FF803F5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57599-D53C-9F29-12E2-985088F8DC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56E4FC-2128-0366-35D4-BEF3846B68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B84F71-8F0C-2AE9-D9AD-F5D135EC7AA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532296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1A337-C94A-A755-D40E-1535911D37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143B6-069C-7A52-8C26-B0124E4C3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27467-835B-B7E7-4955-A4B77C34BA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9274B8-DACF-44FA-AE6E-F7D0E00BE66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403925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B2FE-6E7A-1D45-C965-F0DFBBD03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15A4F3-728F-A5C3-6B64-2B9AFB837F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057E0C-F603-30D9-2168-2D2758A0C2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CAC3B5-F7D6-2A36-A6AF-A3DD20D6517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872278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3" name="Shape 1"/>
          <p:cNvSpPr/>
          <p:nvPr/>
        </p:nvSpPr>
        <p:spPr>
          <a:xfrm>
            <a:off x="7863840" y="0"/>
            <a:ext cx="0" cy="6858000"/>
          </a:xfrm>
          <a:prstGeom prst="line">
            <a:avLst/>
          </a:prstGeom>
          <a:noFill/>
          <a:ln w="12700">
            <a:solidFill>
              <a:srgbClr val="16345C"/>
            </a:solidFill>
            <a:prstDash val="solid"/>
          </a:ln>
        </p:spPr>
        <p:txBody>
          <a:bodyPr/>
          <a:lstStyle/>
          <a:p>
            <a:endParaRPr lang="en-PK"/>
          </a:p>
        </p:txBody>
      </p:sp>
      <p:sp>
        <p:nvSpPr>
          <p:cNvPr id="4" name="Shape 2"/>
          <p:cNvSpPr/>
          <p:nvPr/>
        </p:nvSpPr>
        <p:spPr>
          <a:xfrm>
            <a:off x="8549640" y="0"/>
            <a:ext cx="0" cy="6858000"/>
          </a:xfrm>
          <a:prstGeom prst="line">
            <a:avLst/>
          </a:prstGeom>
          <a:noFill/>
          <a:ln w="12700">
            <a:solidFill>
              <a:srgbClr val="16345C"/>
            </a:solidFill>
            <a:prstDash val="solid"/>
          </a:ln>
        </p:spPr>
        <p:txBody>
          <a:bodyPr/>
          <a:lstStyle/>
          <a:p>
            <a:endParaRPr lang="en-PK"/>
          </a:p>
        </p:txBody>
      </p:sp>
      <p:sp>
        <p:nvSpPr>
          <p:cNvPr id="5" name="Shape 3"/>
          <p:cNvSpPr/>
          <p:nvPr/>
        </p:nvSpPr>
        <p:spPr>
          <a:xfrm>
            <a:off x="9235440" y="0"/>
            <a:ext cx="0" cy="6858000"/>
          </a:xfrm>
          <a:prstGeom prst="line">
            <a:avLst/>
          </a:prstGeom>
          <a:noFill/>
          <a:ln w="12700">
            <a:solidFill>
              <a:srgbClr val="16345C"/>
            </a:solidFill>
            <a:prstDash val="solid"/>
          </a:ln>
        </p:spPr>
        <p:txBody>
          <a:bodyPr/>
          <a:lstStyle/>
          <a:p>
            <a:endParaRPr lang="en-PK"/>
          </a:p>
        </p:txBody>
      </p:sp>
      <p:sp>
        <p:nvSpPr>
          <p:cNvPr id="6" name="Shape 4"/>
          <p:cNvSpPr/>
          <p:nvPr/>
        </p:nvSpPr>
        <p:spPr>
          <a:xfrm>
            <a:off x="9921240" y="0"/>
            <a:ext cx="0" cy="6858000"/>
          </a:xfrm>
          <a:prstGeom prst="line">
            <a:avLst/>
          </a:prstGeom>
          <a:noFill/>
          <a:ln w="12700">
            <a:solidFill>
              <a:srgbClr val="16345C"/>
            </a:solidFill>
            <a:prstDash val="solid"/>
          </a:ln>
        </p:spPr>
        <p:txBody>
          <a:bodyPr/>
          <a:lstStyle/>
          <a:p>
            <a:endParaRPr lang="en-PK"/>
          </a:p>
        </p:txBody>
      </p:sp>
      <p:sp>
        <p:nvSpPr>
          <p:cNvPr id="7" name="Shape 5"/>
          <p:cNvSpPr/>
          <p:nvPr/>
        </p:nvSpPr>
        <p:spPr>
          <a:xfrm>
            <a:off x="10607040" y="0"/>
            <a:ext cx="0" cy="6858000"/>
          </a:xfrm>
          <a:prstGeom prst="line">
            <a:avLst/>
          </a:prstGeom>
          <a:noFill/>
          <a:ln w="12700">
            <a:solidFill>
              <a:srgbClr val="16345C"/>
            </a:solidFill>
            <a:prstDash val="solid"/>
          </a:ln>
        </p:spPr>
        <p:txBody>
          <a:bodyPr/>
          <a:lstStyle/>
          <a:p>
            <a:endParaRPr lang="en-PK"/>
          </a:p>
        </p:txBody>
      </p:sp>
      <p:sp>
        <p:nvSpPr>
          <p:cNvPr id="8" name="Shape 6"/>
          <p:cNvSpPr/>
          <p:nvPr/>
        </p:nvSpPr>
        <p:spPr>
          <a:xfrm>
            <a:off x="11292840" y="0"/>
            <a:ext cx="0" cy="6858000"/>
          </a:xfrm>
          <a:prstGeom prst="line">
            <a:avLst/>
          </a:prstGeom>
          <a:noFill/>
          <a:ln w="12700">
            <a:solidFill>
              <a:srgbClr val="16345C"/>
            </a:solidFill>
            <a:prstDash val="solid"/>
          </a:ln>
        </p:spPr>
        <p:txBody>
          <a:bodyPr/>
          <a:lstStyle/>
          <a:p>
            <a:endParaRPr lang="en-PK"/>
          </a:p>
        </p:txBody>
      </p:sp>
      <p:sp>
        <p:nvSpPr>
          <p:cNvPr id="10" name="Text 8"/>
          <p:cNvSpPr/>
          <p:nvPr/>
        </p:nvSpPr>
        <p:spPr>
          <a:xfrm>
            <a:off x="822960" y="2697480"/>
            <a:ext cx="10058400" cy="100584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rPr>
              <a:t>Implementation and Inference of </a:t>
            </a:r>
            <a:r>
              <a:rPr lang="en-US" sz="3200" b="1" dirty="0" err="1">
                <a:solidFill>
                  <a:srgbClr val="FFFFFF"/>
                </a:solidFill>
                <a:latin typeface="Cambria" pitchFamily="34" charset="0"/>
                <a:ea typeface="Cambria" pitchFamily="34" charset="-122"/>
              </a:rPr>
              <a:t>BLISSNet</a:t>
            </a:r>
            <a:endParaRPr lang="en-US" sz="3200" dirty="0"/>
          </a:p>
        </p:txBody>
      </p:sp>
      <p:sp>
        <p:nvSpPr>
          <p:cNvPr id="11" name="Text 9"/>
          <p:cNvSpPr/>
          <p:nvPr/>
        </p:nvSpPr>
        <p:spPr>
          <a:xfrm>
            <a:off x="822960" y="3703320"/>
            <a:ext cx="8778240" cy="731520"/>
          </a:xfrm>
          <a:prstGeom prst="rect">
            <a:avLst/>
          </a:prstGeom>
          <a:noFill/>
          <a:ln/>
        </p:spPr>
        <p:txBody>
          <a:bodyPr wrap="square" rtlCol="0" anchor="ctr"/>
          <a:lstStyle/>
          <a:p>
            <a:pPr marL="0" indent="0">
              <a:lnSpc>
                <a:spcPct val="125000"/>
              </a:lnSpc>
              <a:buNone/>
            </a:pPr>
            <a:r>
              <a:rPr lang="en-US" sz="1400" dirty="0">
                <a:solidFill>
                  <a:srgbClr val="C7D6E2"/>
                </a:solidFill>
                <a:latin typeface="Calibri" pitchFamily="34" charset="0"/>
                <a:ea typeface="Calibri" pitchFamily="34" charset="-122"/>
                <a:cs typeface="Calibri" pitchFamily="34" charset="-120"/>
              </a:rPr>
              <a:t>An independent implementation of BLISSNet, adapted from synthetic fluid-flow benchmarks to real ERA5 2-metre temperature reanalysis over South Asia, Punjab, and Karnataka.</a:t>
            </a:r>
            <a:endParaRPr lang="en-US" sz="1400" dirty="0"/>
          </a:p>
        </p:txBody>
      </p:sp>
      <p:sp>
        <p:nvSpPr>
          <p:cNvPr id="13" name="Text 11"/>
          <p:cNvSpPr/>
          <p:nvPr/>
        </p:nvSpPr>
        <p:spPr>
          <a:xfrm>
            <a:off x="845820" y="4594860"/>
            <a:ext cx="8229600" cy="320040"/>
          </a:xfrm>
          <a:prstGeom prst="rect">
            <a:avLst/>
          </a:prstGeom>
          <a:noFill/>
          <a:ln/>
        </p:spPr>
        <p:txBody>
          <a:bodyPr wrap="square" rtlCol="0" anchor="ctr"/>
          <a:lstStyle/>
          <a:p>
            <a:pPr marL="0" indent="0">
              <a:buNone/>
            </a:pPr>
            <a:r>
              <a:rPr lang="en-US" sz="1400" i="1" dirty="0">
                <a:solidFill>
                  <a:srgbClr val="9FB2C4"/>
                </a:solidFill>
                <a:latin typeface="Calibri" pitchFamily="34" charset="0"/>
                <a:ea typeface="Calibri" pitchFamily="34" charset="-122"/>
                <a:cs typeface="Calibri" pitchFamily="34" charset="-120"/>
              </a:rPr>
              <a:t>Based on: Veremchuk, Scott &amp; Pan — BLISSNet, arXiv:2602.24228 (2026)</a:t>
            </a:r>
            <a:endParaRPr lang="en-US" sz="1400" dirty="0"/>
          </a:p>
        </p:txBody>
      </p:sp>
      <p:sp>
        <p:nvSpPr>
          <p:cNvPr id="14" name="Text 12"/>
          <p:cNvSpPr/>
          <p:nvPr/>
        </p:nvSpPr>
        <p:spPr>
          <a:xfrm>
            <a:off x="822960" y="6080760"/>
            <a:ext cx="8229600" cy="320040"/>
          </a:xfrm>
          <a:prstGeom prst="rect">
            <a:avLst/>
          </a:prstGeom>
          <a:noFill/>
          <a:ln/>
        </p:spPr>
        <p:txBody>
          <a:bodyPr wrap="square" rtlCol="0" anchor="ctr"/>
          <a:lstStyle/>
          <a:p>
            <a:pPr marL="0" indent="0">
              <a:buNone/>
            </a:pPr>
            <a:r>
              <a:rPr lang="en-US" b="1" dirty="0">
                <a:solidFill>
                  <a:srgbClr val="8FA3B6"/>
                </a:solidFill>
                <a:latin typeface="Calibri" pitchFamily="34" charset="0"/>
                <a:ea typeface="Calibri" pitchFamily="34" charset="-122"/>
                <a:cs typeface="Calibri" pitchFamily="34" charset="-120"/>
              </a:rPr>
              <a:t>Daniyal Hussain Shah</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28752"/>
            <a:ext cx="11064240" cy="274320"/>
          </a:xfrm>
          <a:prstGeom prst="rect">
            <a:avLst/>
          </a:prstGeom>
          <a:noFill/>
          <a:ln/>
        </p:spPr>
        <p:txBody>
          <a:bodyPr wrap="square"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BACKGROUND</a:t>
            </a:r>
            <a:endParaRPr lang="en-US" sz="1100" dirty="0"/>
          </a:p>
        </p:txBody>
      </p:sp>
      <p:sp>
        <p:nvSpPr>
          <p:cNvPr id="3" name="Text 1"/>
          <p:cNvSpPr/>
          <p:nvPr/>
        </p:nvSpPr>
        <p:spPr>
          <a:xfrm>
            <a:off x="457200" y="747903"/>
            <a:ext cx="11064240" cy="640080"/>
          </a:xfrm>
          <a:prstGeom prst="rect">
            <a:avLst/>
          </a:prstGeom>
          <a:noFill/>
          <a:ln/>
        </p:spPr>
        <p:txBody>
          <a:bodyPr wrap="square" rtlCol="0" anchor="ctr"/>
          <a:lstStyle/>
          <a:p>
            <a:pPr marL="0" indent="0" algn="l">
              <a:buNone/>
            </a:pPr>
            <a:r>
              <a:rPr lang="en-US" sz="2800" b="1" dirty="0">
                <a:solidFill>
                  <a:srgbClr val="1B2430"/>
                </a:solidFill>
                <a:latin typeface="Cambria" pitchFamily="34" charset="0"/>
                <a:ea typeface="Cambria" pitchFamily="34" charset="-122"/>
                <a:cs typeface="Cambria" pitchFamily="34" charset="-120"/>
              </a:rPr>
              <a:t>Reconstructing fields from sparse sensors</a:t>
            </a:r>
            <a:endParaRPr lang="en-US" sz="2800" dirty="0"/>
          </a:p>
        </p:txBody>
      </p:sp>
      <p:sp>
        <p:nvSpPr>
          <p:cNvPr id="4" name="Shape 2"/>
          <p:cNvSpPr/>
          <p:nvPr/>
        </p:nvSpPr>
        <p:spPr>
          <a:xfrm>
            <a:off x="548640" y="1891792"/>
            <a:ext cx="109728" cy="109728"/>
          </a:xfrm>
          <a:prstGeom prst="ellipse">
            <a:avLst/>
          </a:prstGeom>
          <a:solidFill>
            <a:srgbClr val="1C7293"/>
          </a:solidFill>
          <a:ln/>
        </p:spPr>
        <p:txBody>
          <a:bodyPr/>
          <a:lstStyle/>
          <a:p>
            <a:endParaRPr lang="en-PK"/>
          </a:p>
        </p:txBody>
      </p:sp>
      <p:sp>
        <p:nvSpPr>
          <p:cNvPr id="5" name="Text 3"/>
          <p:cNvSpPr/>
          <p:nvPr/>
        </p:nvSpPr>
        <p:spPr>
          <a:xfrm>
            <a:off x="822960" y="1772920"/>
            <a:ext cx="2743200" cy="1188720"/>
          </a:xfrm>
          <a:prstGeom prst="rect">
            <a:avLst/>
          </a:prstGeom>
          <a:noFill/>
          <a:ln/>
        </p:spPr>
        <p:txBody>
          <a:bodyPr wrap="square" rtlCol="0" anchor="t"/>
          <a:lstStyle/>
          <a:p>
            <a:pPr marL="0" indent="0">
              <a:buNone/>
            </a:pPr>
            <a:r>
              <a:rPr lang="en-US" sz="1500" b="1" dirty="0">
                <a:solidFill>
                  <a:srgbClr val="21295C"/>
                </a:solidFill>
                <a:latin typeface="Cambria" pitchFamily="34" charset="0"/>
                <a:ea typeface="Cambria" pitchFamily="34" charset="-122"/>
                <a:cs typeface="Cambria" pitchFamily="34" charset="-120"/>
              </a:rPr>
              <a:t>The problem</a:t>
            </a:r>
            <a:endParaRPr lang="en-US" sz="1500" dirty="0"/>
          </a:p>
        </p:txBody>
      </p:sp>
      <p:sp>
        <p:nvSpPr>
          <p:cNvPr id="6" name="Text 4"/>
          <p:cNvSpPr/>
          <p:nvPr/>
        </p:nvSpPr>
        <p:spPr>
          <a:xfrm>
            <a:off x="3465576" y="1678686"/>
            <a:ext cx="7863840" cy="1188720"/>
          </a:xfrm>
          <a:prstGeom prst="rect">
            <a:avLst/>
          </a:prstGeom>
          <a:noFill/>
          <a:ln/>
        </p:spPr>
        <p:txBody>
          <a:bodyPr wrap="square" rtlCol="0" anchor="t"/>
          <a:lstStyle/>
          <a:p>
            <a:pPr marL="0" indent="0">
              <a:lnSpc>
                <a:spcPct val="115000"/>
              </a:lnSpc>
              <a:buNone/>
            </a:pPr>
            <a:r>
              <a:rPr lang="en-US" sz="1300" dirty="0">
                <a:solidFill>
                  <a:srgbClr val="1B2430"/>
                </a:solidFill>
                <a:latin typeface="Calibri" pitchFamily="34" charset="0"/>
                <a:ea typeface="Calibri" pitchFamily="34" charset="-122"/>
                <a:cs typeface="Calibri" pitchFamily="34" charset="-120"/>
              </a:rPr>
              <a:t>Recover a full spatial field from a small set of sparse, irregularly placed observations which is common in climate, remote sensing, and flow reconstruction.</a:t>
            </a:r>
            <a:endParaRPr lang="en-US" sz="1300" dirty="0"/>
          </a:p>
        </p:txBody>
      </p:sp>
      <p:sp>
        <p:nvSpPr>
          <p:cNvPr id="7" name="Shape 5"/>
          <p:cNvSpPr/>
          <p:nvPr/>
        </p:nvSpPr>
        <p:spPr>
          <a:xfrm>
            <a:off x="569976" y="2723896"/>
            <a:ext cx="109728" cy="109728"/>
          </a:xfrm>
          <a:prstGeom prst="ellipse">
            <a:avLst/>
          </a:prstGeom>
          <a:solidFill>
            <a:srgbClr val="1C7293"/>
          </a:solidFill>
          <a:ln/>
        </p:spPr>
        <p:txBody>
          <a:bodyPr/>
          <a:lstStyle/>
          <a:p>
            <a:endParaRPr lang="en-PK"/>
          </a:p>
        </p:txBody>
      </p:sp>
      <p:sp>
        <p:nvSpPr>
          <p:cNvPr id="8" name="Text 6"/>
          <p:cNvSpPr/>
          <p:nvPr/>
        </p:nvSpPr>
        <p:spPr>
          <a:xfrm>
            <a:off x="822960" y="2595880"/>
            <a:ext cx="2743200" cy="1188720"/>
          </a:xfrm>
          <a:prstGeom prst="rect">
            <a:avLst/>
          </a:prstGeom>
          <a:noFill/>
          <a:ln/>
        </p:spPr>
        <p:txBody>
          <a:bodyPr wrap="square" rtlCol="0" anchor="t"/>
          <a:lstStyle/>
          <a:p>
            <a:pPr marL="0" indent="0">
              <a:buNone/>
            </a:pPr>
            <a:r>
              <a:rPr lang="en-US" sz="1500" b="1" dirty="0">
                <a:solidFill>
                  <a:srgbClr val="21295C"/>
                </a:solidFill>
                <a:latin typeface="Cambria" pitchFamily="34" charset="0"/>
                <a:ea typeface="Cambria" pitchFamily="34" charset="-122"/>
                <a:cs typeface="Cambria" pitchFamily="34" charset="-120"/>
              </a:rPr>
              <a:t>DeepONet-style operator</a:t>
            </a:r>
            <a:endParaRPr lang="en-US" sz="1500" dirty="0"/>
          </a:p>
        </p:txBody>
      </p:sp>
      <p:sp>
        <p:nvSpPr>
          <p:cNvPr id="9" name="Text 7"/>
          <p:cNvSpPr/>
          <p:nvPr/>
        </p:nvSpPr>
        <p:spPr>
          <a:xfrm>
            <a:off x="3465576" y="2539746"/>
            <a:ext cx="7863840" cy="594360"/>
          </a:xfrm>
          <a:prstGeom prst="rect">
            <a:avLst/>
          </a:prstGeom>
          <a:noFill/>
          <a:ln/>
        </p:spPr>
        <p:txBody>
          <a:bodyPr wrap="square" rtlCol="0" anchor="t"/>
          <a:lstStyle/>
          <a:p>
            <a:pPr marL="0" indent="0">
              <a:lnSpc>
                <a:spcPct val="115000"/>
              </a:lnSpc>
              <a:buNone/>
            </a:pPr>
            <a:r>
              <a:rPr lang="en-US" sz="1300" dirty="0">
                <a:solidFill>
                  <a:srgbClr val="1B2430"/>
                </a:solidFill>
                <a:latin typeface="Calibri" pitchFamily="34" charset="0"/>
                <a:ea typeface="Calibri" pitchFamily="34" charset="-122"/>
                <a:cs typeface="Calibri" pitchFamily="34" charset="-120"/>
              </a:rPr>
              <a:t>BLISSNet factorizes reconstruction into a trunk network (basis functions over coordinates) and a branch network (coefficients from observations); output is a weighted sum of bases.</a:t>
            </a:r>
            <a:endParaRPr lang="en-US" sz="1300" dirty="0"/>
          </a:p>
        </p:txBody>
      </p:sp>
      <p:sp>
        <p:nvSpPr>
          <p:cNvPr id="10" name="Shape 8"/>
          <p:cNvSpPr/>
          <p:nvPr/>
        </p:nvSpPr>
        <p:spPr>
          <a:xfrm>
            <a:off x="569976" y="3679444"/>
            <a:ext cx="109728" cy="109728"/>
          </a:xfrm>
          <a:prstGeom prst="ellipse">
            <a:avLst/>
          </a:prstGeom>
          <a:solidFill>
            <a:srgbClr val="1C7293"/>
          </a:solidFill>
          <a:ln/>
        </p:spPr>
        <p:txBody>
          <a:bodyPr/>
          <a:lstStyle/>
          <a:p>
            <a:endParaRPr lang="en-PK"/>
          </a:p>
        </p:txBody>
      </p:sp>
      <p:sp>
        <p:nvSpPr>
          <p:cNvPr id="11" name="Text 9"/>
          <p:cNvSpPr/>
          <p:nvPr/>
        </p:nvSpPr>
        <p:spPr>
          <a:xfrm>
            <a:off x="822960" y="3585210"/>
            <a:ext cx="2743200" cy="1188720"/>
          </a:xfrm>
          <a:prstGeom prst="rect">
            <a:avLst/>
          </a:prstGeom>
          <a:noFill/>
          <a:ln/>
        </p:spPr>
        <p:txBody>
          <a:bodyPr wrap="square" rtlCol="0" anchor="t"/>
          <a:lstStyle/>
          <a:p>
            <a:pPr marL="0" indent="0">
              <a:buNone/>
            </a:pPr>
            <a:r>
              <a:rPr lang="en-US" sz="1500" b="1" dirty="0">
                <a:solidFill>
                  <a:srgbClr val="21295C"/>
                </a:solidFill>
                <a:latin typeface="Cambria" pitchFamily="34" charset="0"/>
                <a:ea typeface="Cambria" pitchFamily="34" charset="-122"/>
                <a:cs typeface="Cambria" pitchFamily="34" charset="-120"/>
              </a:rPr>
              <a:t>Original scope</a:t>
            </a:r>
            <a:endParaRPr lang="en-US" sz="1500" dirty="0"/>
          </a:p>
        </p:txBody>
      </p:sp>
      <p:sp>
        <p:nvSpPr>
          <p:cNvPr id="12" name="Text 10"/>
          <p:cNvSpPr/>
          <p:nvPr/>
        </p:nvSpPr>
        <p:spPr>
          <a:xfrm>
            <a:off x="3511296" y="3585210"/>
            <a:ext cx="7863840" cy="1188720"/>
          </a:xfrm>
          <a:prstGeom prst="rect">
            <a:avLst/>
          </a:prstGeom>
          <a:noFill/>
          <a:ln/>
        </p:spPr>
        <p:txBody>
          <a:bodyPr wrap="square" rtlCol="0" anchor="t"/>
          <a:lstStyle/>
          <a:p>
            <a:pPr marL="0" indent="0">
              <a:lnSpc>
                <a:spcPct val="115000"/>
              </a:lnSpc>
              <a:buNone/>
            </a:pPr>
            <a:r>
              <a:rPr lang="en-US" sz="1300" dirty="0">
                <a:solidFill>
                  <a:srgbClr val="1B2430"/>
                </a:solidFill>
                <a:latin typeface="Calibri" pitchFamily="34" charset="0"/>
                <a:ea typeface="Calibri" pitchFamily="34" charset="-122"/>
                <a:cs typeface="Calibri" pitchFamily="34" charset="-120"/>
              </a:rPr>
              <a:t>Proposed and validated on synthetic 2D Navier-Stokes and Quasi-Geostrophic flow on a fixed (0,1)² domain, with zero-shot generalization across grid resolutions and faster inference than cross-attention baselines (OFormer, Senseiver).</a:t>
            </a:r>
            <a:endParaRPr lang="en-US" sz="1300" dirty="0"/>
          </a:p>
        </p:txBody>
      </p:sp>
      <p:sp>
        <p:nvSpPr>
          <p:cNvPr id="14" name="Text 12"/>
          <p:cNvSpPr/>
          <p:nvPr/>
        </p:nvSpPr>
        <p:spPr>
          <a:xfrm>
            <a:off x="862584" y="4773930"/>
            <a:ext cx="2743200" cy="1188720"/>
          </a:xfrm>
          <a:prstGeom prst="rect">
            <a:avLst/>
          </a:prstGeom>
          <a:noFill/>
          <a:ln/>
        </p:spPr>
        <p:txBody>
          <a:bodyPr wrap="square" rtlCol="0" anchor="t"/>
          <a:lstStyle/>
          <a:p>
            <a:pPr marL="0" indent="0">
              <a:buNone/>
            </a:pPr>
            <a:r>
              <a:rPr lang="en-US" sz="1500" b="1" dirty="0">
                <a:solidFill>
                  <a:srgbClr val="21295C"/>
                </a:solidFill>
                <a:latin typeface="Cambria" pitchFamily="34" charset="0"/>
                <a:ea typeface="Cambria" pitchFamily="34" charset="-122"/>
                <a:cs typeface="Cambria" pitchFamily="34" charset="-120"/>
              </a:rPr>
              <a:t>This work</a:t>
            </a:r>
            <a:endParaRPr lang="en-US" sz="1500" dirty="0"/>
          </a:p>
        </p:txBody>
      </p:sp>
      <p:sp>
        <p:nvSpPr>
          <p:cNvPr id="15" name="Text 13"/>
          <p:cNvSpPr/>
          <p:nvPr/>
        </p:nvSpPr>
        <p:spPr>
          <a:xfrm>
            <a:off x="3520440" y="4630674"/>
            <a:ext cx="7863840" cy="1188720"/>
          </a:xfrm>
          <a:prstGeom prst="rect">
            <a:avLst/>
          </a:prstGeom>
          <a:noFill/>
          <a:ln/>
        </p:spPr>
        <p:txBody>
          <a:bodyPr wrap="square" rtlCol="0" anchor="t"/>
          <a:lstStyle/>
          <a:p>
            <a:pPr marL="0" indent="0">
              <a:lnSpc>
                <a:spcPct val="115000"/>
              </a:lnSpc>
              <a:buNone/>
            </a:pPr>
            <a:r>
              <a:rPr lang="en-US" sz="1300" dirty="0">
                <a:solidFill>
                  <a:srgbClr val="1B2430"/>
                </a:solidFill>
                <a:latin typeface="Calibri" pitchFamily="34" charset="0"/>
                <a:ea typeface="Calibri" pitchFamily="34" charset="-122"/>
                <a:cs typeface="Calibri" pitchFamily="34" charset="-120"/>
              </a:rPr>
              <a:t>Re-implements BLISSNet independently and applies it to real ERA5 2m-temperature (t2m) data over South Asia and two sub-regions, then tests a question the original paper does not: generalization across different spatial domains.</a:t>
            </a:r>
            <a:endParaRPr lang="en-US" sz="1300" dirty="0"/>
          </a:p>
        </p:txBody>
      </p:sp>
      <p:sp>
        <p:nvSpPr>
          <p:cNvPr id="16" name="Text 14"/>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B6673"/>
                </a:solidFill>
                <a:latin typeface="Calibri" pitchFamily="34" charset="0"/>
                <a:ea typeface="Calibri" pitchFamily="34" charset="-122"/>
                <a:cs typeface="Calibri" pitchFamily="34" charset="-120"/>
              </a:rPr>
              <a:t>2</a:t>
            </a:r>
            <a:endParaRPr lang="en-US" sz="1000" dirty="0"/>
          </a:p>
        </p:txBody>
      </p:sp>
      <p:sp>
        <p:nvSpPr>
          <p:cNvPr id="18" name="Shape 8">
            <a:extLst>
              <a:ext uri="{FF2B5EF4-FFF2-40B4-BE49-F238E27FC236}">
                <a16:creationId xmlns:a16="http://schemas.microsoft.com/office/drawing/2014/main" id="{032E1E9C-4985-5657-C391-2644FAF39E92}"/>
              </a:ext>
            </a:extLst>
          </p:cNvPr>
          <p:cNvSpPr/>
          <p:nvPr/>
        </p:nvSpPr>
        <p:spPr>
          <a:xfrm>
            <a:off x="600456" y="4868164"/>
            <a:ext cx="109728" cy="109728"/>
          </a:xfrm>
          <a:prstGeom prst="ellipse">
            <a:avLst/>
          </a:prstGeom>
          <a:solidFill>
            <a:srgbClr val="1C7293"/>
          </a:solidFill>
          <a:ln/>
        </p:spPr>
        <p:txBody>
          <a:bodyPr/>
          <a:lstStyle/>
          <a:p>
            <a:endParaRPr lang="en-PK"/>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79476"/>
            <a:ext cx="11064240" cy="274320"/>
          </a:xfrm>
          <a:prstGeom prst="rect">
            <a:avLst/>
          </a:prstGeom>
          <a:noFill/>
          <a:ln/>
        </p:spPr>
        <p:txBody>
          <a:bodyPr wrap="square"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DATASET</a:t>
            </a:r>
            <a:endParaRPr lang="en-US" sz="1100" dirty="0"/>
          </a:p>
        </p:txBody>
      </p:sp>
      <p:sp>
        <p:nvSpPr>
          <p:cNvPr id="3" name="Text 1"/>
          <p:cNvSpPr/>
          <p:nvPr/>
        </p:nvSpPr>
        <p:spPr>
          <a:xfrm>
            <a:off x="457200" y="603418"/>
            <a:ext cx="11064240" cy="640080"/>
          </a:xfrm>
          <a:prstGeom prst="rect">
            <a:avLst/>
          </a:prstGeom>
          <a:noFill/>
          <a:ln/>
        </p:spPr>
        <p:txBody>
          <a:bodyPr wrap="square" rtlCol="0" anchor="ctr"/>
          <a:lstStyle/>
          <a:p>
            <a:pPr marL="0" indent="0" algn="l">
              <a:buNone/>
            </a:pPr>
            <a:r>
              <a:rPr lang="en-US" sz="2800" b="1" dirty="0">
                <a:solidFill>
                  <a:srgbClr val="1B2430"/>
                </a:solidFill>
                <a:latin typeface="Cambria" pitchFamily="34" charset="0"/>
                <a:ea typeface="Cambria" pitchFamily="34" charset="-122"/>
                <a:cs typeface="Cambria" pitchFamily="34" charset="-120"/>
              </a:rPr>
              <a:t>ERA5 t2m: preparation and regional slicing</a:t>
            </a:r>
            <a:endParaRPr lang="en-US" sz="2800" dirty="0"/>
          </a:p>
        </p:txBody>
      </p:sp>
      <p:sp>
        <p:nvSpPr>
          <p:cNvPr id="4" name="Text 2"/>
          <p:cNvSpPr/>
          <p:nvPr/>
        </p:nvSpPr>
        <p:spPr>
          <a:xfrm>
            <a:off x="457200" y="1225296"/>
            <a:ext cx="6583680" cy="548640"/>
          </a:xfrm>
          <a:prstGeom prst="rect">
            <a:avLst/>
          </a:prstGeom>
          <a:noFill/>
          <a:ln/>
        </p:spPr>
        <p:txBody>
          <a:bodyPr wrap="square" rtlCol="0" anchor="ctr"/>
          <a:lstStyle/>
          <a:p>
            <a:pPr marL="0" indent="0">
              <a:lnSpc>
                <a:spcPct val="120000"/>
              </a:lnSpc>
              <a:buNone/>
            </a:pPr>
            <a:r>
              <a:rPr lang="en-US" sz="1300" dirty="0">
                <a:solidFill>
                  <a:srgbClr val="1B2430"/>
                </a:solidFill>
                <a:latin typeface="Calibri" pitchFamily="34" charset="0"/>
                <a:ea typeface="Calibri" pitchFamily="34" charset="-122"/>
                <a:cs typeface="Calibri" pitchFamily="34" charset="-120"/>
              </a:rPr>
              <a:t>Source: ERA5 2m-temperature (t2m) reanalysis, hourly, full year 2025 - Copernicus Climate Data Store (via cfgrib).</a:t>
            </a:r>
            <a:endParaRPr lang="en-US" sz="1300" dirty="0"/>
          </a:p>
        </p:txBody>
      </p:sp>
      <p:sp>
        <p:nvSpPr>
          <p:cNvPr id="5" name="Shape 3"/>
          <p:cNvSpPr/>
          <p:nvPr/>
        </p:nvSpPr>
        <p:spPr>
          <a:xfrm>
            <a:off x="548640" y="1920240"/>
            <a:ext cx="256032" cy="256032"/>
          </a:xfrm>
          <a:prstGeom prst="ellipse">
            <a:avLst/>
          </a:prstGeom>
          <a:solidFill>
            <a:srgbClr val="065A82"/>
          </a:solidFill>
          <a:ln/>
        </p:spPr>
        <p:txBody>
          <a:bodyPr/>
          <a:lstStyle/>
          <a:p>
            <a:endParaRPr lang="en-PK"/>
          </a:p>
        </p:txBody>
      </p:sp>
      <p:sp>
        <p:nvSpPr>
          <p:cNvPr id="6" name="Text 4"/>
          <p:cNvSpPr/>
          <p:nvPr/>
        </p:nvSpPr>
        <p:spPr>
          <a:xfrm>
            <a:off x="548640" y="192024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960120" y="1874520"/>
            <a:ext cx="6172200" cy="365760"/>
          </a:xfrm>
          <a:prstGeom prst="rect">
            <a:avLst/>
          </a:prstGeom>
          <a:noFill/>
          <a:ln/>
        </p:spPr>
        <p:txBody>
          <a:bodyPr wrap="square" rtlCol="0" anchor="ctr"/>
          <a:lstStyle/>
          <a:p>
            <a:pPr marL="0" indent="0">
              <a:buNone/>
            </a:pPr>
            <a:r>
              <a:rPr lang="en-US" sz="1250" dirty="0">
                <a:solidFill>
                  <a:srgbClr val="1B2430"/>
                </a:solidFill>
                <a:latin typeface="Calibri" pitchFamily="34" charset="0"/>
                <a:ea typeface="Calibri" pitchFamily="34" charset="-122"/>
                <a:cs typeface="Calibri" pitchFamily="34" charset="-120"/>
              </a:rPr>
              <a:t>Loaded raw South Asia GRIB t2m grid (5–38°N, 60–98°E)</a:t>
            </a:r>
            <a:endParaRPr lang="en-US" sz="1250" dirty="0"/>
          </a:p>
        </p:txBody>
      </p:sp>
      <p:sp>
        <p:nvSpPr>
          <p:cNvPr id="8" name="Shape 6"/>
          <p:cNvSpPr/>
          <p:nvPr/>
        </p:nvSpPr>
        <p:spPr>
          <a:xfrm>
            <a:off x="548640" y="2377440"/>
            <a:ext cx="256032" cy="256032"/>
          </a:xfrm>
          <a:prstGeom prst="ellipse">
            <a:avLst/>
          </a:prstGeom>
          <a:solidFill>
            <a:srgbClr val="065A82"/>
          </a:solidFill>
          <a:ln/>
        </p:spPr>
        <p:txBody>
          <a:bodyPr/>
          <a:lstStyle/>
          <a:p>
            <a:endParaRPr lang="en-PK"/>
          </a:p>
        </p:txBody>
      </p:sp>
      <p:sp>
        <p:nvSpPr>
          <p:cNvPr id="9" name="Text 7"/>
          <p:cNvSpPr/>
          <p:nvPr/>
        </p:nvSpPr>
        <p:spPr>
          <a:xfrm>
            <a:off x="548640" y="237744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960120" y="2331720"/>
            <a:ext cx="6172200" cy="365760"/>
          </a:xfrm>
          <a:prstGeom prst="rect">
            <a:avLst/>
          </a:prstGeom>
          <a:noFill/>
          <a:ln/>
        </p:spPr>
        <p:txBody>
          <a:bodyPr wrap="square" rtlCol="0" anchor="ctr"/>
          <a:lstStyle/>
          <a:p>
            <a:pPr marL="0" indent="0">
              <a:buNone/>
            </a:pPr>
            <a:r>
              <a:rPr lang="en-US" sz="1250" dirty="0">
                <a:solidFill>
                  <a:srgbClr val="1B2430"/>
                </a:solidFill>
                <a:latin typeface="Calibri" pitchFamily="34" charset="0"/>
                <a:ea typeface="Calibri" pitchFamily="34" charset="-122"/>
                <a:cs typeface="Calibri" pitchFamily="34" charset="-120"/>
              </a:rPr>
              <a:t>Dropped unused coordinate variables (surface, step, valid_time, number)</a:t>
            </a:r>
            <a:endParaRPr lang="en-US" sz="1250" dirty="0"/>
          </a:p>
        </p:txBody>
      </p:sp>
      <p:sp>
        <p:nvSpPr>
          <p:cNvPr id="11" name="Shape 9"/>
          <p:cNvSpPr/>
          <p:nvPr/>
        </p:nvSpPr>
        <p:spPr>
          <a:xfrm>
            <a:off x="548640" y="2834640"/>
            <a:ext cx="256032" cy="256032"/>
          </a:xfrm>
          <a:prstGeom prst="ellipse">
            <a:avLst/>
          </a:prstGeom>
          <a:solidFill>
            <a:srgbClr val="065A82"/>
          </a:solidFill>
          <a:ln/>
        </p:spPr>
        <p:txBody>
          <a:bodyPr/>
          <a:lstStyle/>
          <a:p>
            <a:endParaRPr lang="en-PK"/>
          </a:p>
        </p:txBody>
      </p:sp>
      <p:sp>
        <p:nvSpPr>
          <p:cNvPr id="12" name="Text 10"/>
          <p:cNvSpPr/>
          <p:nvPr/>
        </p:nvSpPr>
        <p:spPr>
          <a:xfrm>
            <a:off x="548640" y="283464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p:nvPr/>
        </p:nvSpPr>
        <p:spPr>
          <a:xfrm>
            <a:off x="960120" y="2788920"/>
            <a:ext cx="6172200" cy="365760"/>
          </a:xfrm>
          <a:prstGeom prst="rect">
            <a:avLst/>
          </a:prstGeom>
          <a:noFill/>
          <a:ln/>
        </p:spPr>
        <p:txBody>
          <a:bodyPr wrap="square" rtlCol="0" anchor="ctr"/>
          <a:lstStyle/>
          <a:p>
            <a:pPr marL="0" indent="0">
              <a:buNone/>
            </a:pPr>
            <a:r>
              <a:rPr lang="en-US" sz="1250" dirty="0">
                <a:solidFill>
                  <a:srgbClr val="1B2430"/>
                </a:solidFill>
                <a:latin typeface="Calibri" pitchFamily="34" charset="0"/>
                <a:ea typeface="Calibri" pitchFamily="34" charset="-122"/>
                <a:cs typeface="Calibri" pitchFamily="34" charset="-120"/>
              </a:rPr>
              <a:t>Resample hourly → 6-hour means (8760 → 1460 timesteps)</a:t>
            </a:r>
            <a:endParaRPr lang="en-US" sz="1250" dirty="0"/>
          </a:p>
        </p:txBody>
      </p:sp>
      <p:sp>
        <p:nvSpPr>
          <p:cNvPr id="14" name="Shape 12"/>
          <p:cNvSpPr/>
          <p:nvPr/>
        </p:nvSpPr>
        <p:spPr>
          <a:xfrm>
            <a:off x="548640" y="3291840"/>
            <a:ext cx="256032" cy="256032"/>
          </a:xfrm>
          <a:prstGeom prst="ellipse">
            <a:avLst/>
          </a:prstGeom>
          <a:solidFill>
            <a:srgbClr val="065A82"/>
          </a:solidFill>
          <a:ln/>
        </p:spPr>
        <p:txBody>
          <a:bodyPr/>
          <a:lstStyle/>
          <a:p>
            <a:endParaRPr lang="en-PK"/>
          </a:p>
        </p:txBody>
      </p:sp>
      <p:sp>
        <p:nvSpPr>
          <p:cNvPr id="15" name="Text 13"/>
          <p:cNvSpPr/>
          <p:nvPr/>
        </p:nvSpPr>
        <p:spPr>
          <a:xfrm>
            <a:off x="548640" y="329184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p:nvPr/>
        </p:nvSpPr>
        <p:spPr>
          <a:xfrm>
            <a:off x="960120" y="3246120"/>
            <a:ext cx="6172200" cy="365760"/>
          </a:xfrm>
          <a:prstGeom prst="rect">
            <a:avLst/>
          </a:prstGeom>
          <a:noFill/>
          <a:ln/>
        </p:spPr>
        <p:txBody>
          <a:bodyPr wrap="square" rtlCol="0" anchor="ctr"/>
          <a:lstStyle/>
          <a:p>
            <a:pPr marL="0" indent="0">
              <a:buNone/>
            </a:pPr>
            <a:r>
              <a:rPr lang="en-US" sz="1250" dirty="0">
                <a:solidFill>
                  <a:srgbClr val="1B2430"/>
                </a:solidFill>
                <a:latin typeface="Calibri" pitchFamily="34" charset="0"/>
                <a:ea typeface="Calibri" pitchFamily="34" charset="-122"/>
                <a:cs typeface="Calibri" pitchFamily="34" charset="-120"/>
              </a:rPr>
              <a:t>Slice Punjab and Karnataka sub-regions by lat/lon bounds</a:t>
            </a:r>
            <a:endParaRPr lang="en-US" sz="1250" dirty="0"/>
          </a:p>
        </p:txBody>
      </p:sp>
      <p:sp>
        <p:nvSpPr>
          <p:cNvPr id="17" name="Shape 15"/>
          <p:cNvSpPr/>
          <p:nvPr/>
        </p:nvSpPr>
        <p:spPr>
          <a:xfrm>
            <a:off x="548640" y="3749040"/>
            <a:ext cx="256032" cy="256032"/>
          </a:xfrm>
          <a:prstGeom prst="ellipse">
            <a:avLst/>
          </a:prstGeom>
          <a:solidFill>
            <a:srgbClr val="065A82"/>
          </a:solidFill>
          <a:ln/>
        </p:spPr>
        <p:txBody>
          <a:bodyPr/>
          <a:lstStyle/>
          <a:p>
            <a:endParaRPr lang="en-PK"/>
          </a:p>
        </p:txBody>
      </p:sp>
      <p:sp>
        <p:nvSpPr>
          <p:cNvPr id="18" name="Text 16"/>
          <p:cNvSpPr/>
          <p:nvPr/>
        </p:nvSpPr>
        <p:spPr>
          <a:xfrm>
            <a:off x="548640" y="374904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p:nvPr/>
        </p:nvSpPr>
        <p:spPr>
          <a:xfrm>
            <a:off x="960120" y="3703320"/>
            <a:ext cx="6172200" cy="365760"/>
          </a:xfrm>
          <a:prstGeom prst="rect">
            <a:avLst/>
          </a:prstGeom>
          <a:noFill/>
          <a:ln/>
        </p:spPr>
        <p:txBody>
          <a:bodyPr wrap="square" rtlCol="0" anchor="ctr"/>
          <a:lstStyle/>
          <a:p>
            <a:pPr marL="0" indent="0">
              <a:buNone/>
            </a:pPr>
            <a:r>
              <a:rPr lang="en-US" sz="1250" dirty="0">
                <a:solidFill>
                  <a:srgbClr val="1B2430"/>
                </a:solidFill>
                <a:latin typeface="Calibri" pitchFamily="34" charset="0"/>
                <a:ea typeface="Calibri" pitchFamily="34" charset="-122"/>
                <a:cs typeface="Calibri" pitchFamily="34" charset="-120"/>
              </a:rPr>
              <a:t>Export all three regions to NetCDF for training / inference</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6583680" cy="137160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429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Region</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065A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Bounds (lat, lon)</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065A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Grid (H × W)</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065A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Points (T×H×W)</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42900">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South Asia</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5–38°N, 60–98°E</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133 × 153</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≈29.7M</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342900">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Punjab</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27.5–34°N, 69–75.5°E</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27 × 27</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≈1.06M</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r h="342900">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Karnataka</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11.5–18.5°N, 74–78.5°E</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29 × 19</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150" dirty="0">
                          <a:solidFill>
                            <a:srgbClr val="1B2430"/>
                          </a:solidFill>
                          <a:latin typeface="Calibri" pitchFamily="34" charset="0"/>
                          <a:ea typeface="Calibri" pitchFamily="34" charset="-122"/>
                          <a:cs typeface="Calibri" pitchFamily="34" charset="-120"/>
                        </a:rPr>
                        <a:t>≈0.80M</a:t>
                      </a:r>
                      <a:endParaRPr lang="en-US" sz="11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1" name="Text 18"/>
          <p:cNvSpPr/>
          <p:nvPr/>
        </p:nvSpPr>
        <p:spPr>
          <a:xfrm>
            <a:off x="548640" y="5943600"/>
            <a:ext cx="6583680" cy="365760"/>
          </a:xfrm>
          <a:prstGeom prst="rect">
            <a:avLst/>
          </a:prstGeom>
          <a:noFill/>
          <a:ln/>
        </p:spPr>
        <p:txBody>
          <a:bodyPr wrap="square" rtlCol="0" anchor="ctr"/>
          <a:lstStyle/>
          <a:p>
            <a:pPr marL="0" indent="0">
              <a:buNone/>
            </a:pPr>
            <a:r>
              <a:rPr lang="en-US" sz="1050" i="1" dirty="0">
                <a:solidFill>
                  <a:srgbClr val="5B6673"/>
                </a:solidFill>
                <a:latin typeface="Calibri" pitchFamily="34" charset="0"/>
                <a:ea typeface="Calibri" pitchFamily="34" charset="-122"/>
                <a:cs typeface="Calibri" pitchFamily="34" charset="-120"/>
              </a:rPr>
              <a:t>All timesteps share 1460 6-hourly frames; only spatial extent differs across regions.</a:t>
            </a:r>
            <a:endParaRPr lang="en-US" sz="1050" dirty="0"/>
          </a:p>
        </p:txBody>
      </p:sp>
      <p:sp>
        <p:nvSpPr>
          <p:cNvPr id="23" name="Text 20"/>
          <p:cNvSpPr/>
          <p:nvPr/>
        </p:nvSpPr>
        <p:spPr>
          <a:xfrm>
            <a:off x="7452360" y="1234440"/>
            <a:ext cx="4160520" cy="5074920"/>
          </a:xfrm>
          <a:prstGeom prst="rect">
            <a:avLst/>
          </a:prstGeom>
          <a:noFill/>
          <a:ln/>
        </p:spPr>
        <p:txBody>
          <a:bodyPr wrap="square" rtlCol="0" anchor="ctr"/>
          <a:lstStyle/>
          <a:p>
            <a:pPr marL="0" indent="0" algn="ctr">
              <a:buNone/>
            </a:pPr>
            <a:r>
              <a:rPr lang="en-US" sz="1200" i="1" dirty="0">
                <a:solidFill>
                  <a:srgbClr val="5B6673"/>
                </a:solidFill>
                <a:latin typeface="Calibri" pitchFamily="34" charset="0"/>
                <a:ea typeface="Calibri" pitchFamily="34" charset="-122"/>
                <a:cs typeface="Calibri" pitchFamily="34" charset="-120"/>
              </a:rPr>
              <a:t>t2m heatmap / region visualization</a:t>
            </a:r>
            <a:endParaRPr lang="en-US" sz="1200" dirty="0"/>
          </a:p>
          <a:p>
            <a:pPr marL="0" indent="0" algn="ctr">
              <a:buNone/>
            </a:pPr>
            <a:r>
              <a:rPr lang="en-US" sz="1200" i="1" dirty="0">
                <a:solidFill>
                  <a:srgbClr val="5B6673"/>
                </a:solidFill>
                <a:latin typeface="Calibri" pitchFamily="34" charset="0"/>
                <a:ea typeface="Calibri" pitchFamily="34" charset="-122"/>
                <a:cs typeface="Calibri" pitchFamily="34" charset="-120"/>
              </a:rPr>
              <a:t>(paste screenshot)</a:t>
            </a:r>
            <a:endParaRPr lang="en-US" sz="1200" dirty="0"/>
          </a:p>
        </p:txBody>
      </p:sp>
      <p:sp>
        <p:nvSpPr>
          <p:cNvPr id="24" name="Text 21"/>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B6673"/>
                </a:solidFill>
                <a:latin typeface="Calibri" pitchFamily="34" charset="0"/>
                <a:ea typeface="Calibri" pitchFamily="34" charset="-122"/>
                <a:cs typeface="Calibri" pitchFamily="34" charset="-120"/>
              </a:rPr>
              <a:t>3</a:t>
            </a:r>
            <a:endParaRPr lang="en-US" sz="1000" dirty="0"/>
          </a:p>
        </p:txBody>
      </p:sp>
      <p:pic>
        <p:nvPicPr>
          <p:cNvPr id="26" name="Picture 25">
            <a:extLst>
              <a:ext uri="{FF2B5EF4-FFF2-40B4-BE49-F238E27FC236}">
                <a16:creationId xmlns:a16="http://schemas.microsoft.com/office/drawing/2014/main" id="{B6FC3B1E-DF84-5ACF-12FB-F8E875816912}"/>
              </a:ext>
            </a:extLst>
          </p:cNvPr>
          <p:cNvPicPr>
            <a:picLocks noChangeAspect="1"/>
          </p:cNvPicPr>
          <p:nvPr/>
        </p:nvPicPr>
        <p:blipFill>
          <a:blip r:embed="rId3"/>
          <a:stretch>
            <a:fillRect/>
          </a:stretch>
        </p:blipFill>
        <p:spPr>
          <a:xfrm>
            <a:off x="7329183" y="1578634"/>
            <a:ext cx="4558017" cy="42780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2827"/>
            <a:ext cx="11064240" cy="274320"/>
          </a:xfrm>
          <a:prstGeom prst="rect">
            <a:avLst/>
          </a:prstGeom>
          <a:noFill/>
          <a:ln/>
        </p:spPr>
        <p:txBody>
          <a:bodyPr wrap="square"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MODEL</a:t>
            </a:r>
            <a:endParaRPr lang="en-US" sz="1100" dirty="0"/>
          </a:p>
        </p:txBody>
      </p:sp>
      <p:sp>
        <p:nvSpPr>
          <p:cNvPr id="3" name="Text 1"/>
          <p:cNvSpPr/>
          <p:nvPr/>
        </p:nvSpPr>
        <p:spPr>
          <a:xfrm>
            <a:off x="548640" y="583734"/>
            <a:ext cx="11064240" cy="640080"/>
          </a:xfrm>
          <a:prstGeom prst="rect">
            <a:avLst/>
          </a:prstGeom>
          <a:noFill/>
          <a:ln/>
        </p:spPr>
        <p:txBody>
          <a:bodyPr wrap="square" rtlCol="0" anchor="ctr"/>
          <a:lstStyle/>
          <a:p>
            <a:pPr marL="0" indent="0" algn="l">
              <a:buNone/>
            </a:pPr>
            <a:r>
              <a:rPr lang="en-US" sz="2800" b="1" dirty="0" err="1">
                <a:solidFill>
                  <a:srgbClr val="1B2430"/>
                </a:solidFill>
                <a:latin typeface="Cambria" pitchFamily="34" charset="0"/>
                <a:ea typeface="Cambria" pitchFamily="34" charset="-122"/>
                <a:cs typeface="Cambria" pitchFamily="34" charset="-120"/>
              </a:rPr>
              <a:t>BLISSNet</a:t>
            </a:r>
            <a:r>
              <a:rPr lang="en-US" sz="2800" b="1" dirty="0">
                <a:solidFill>
                  <a:srgbClr val="1B2430"/>
                </a:solidFill>
                <a:latin typeface="Cambria" pitchFamily="34" charset="0"/>
                <a:ea typeface="Cambria" pitchFamily="34" charset="-122"/>
                <a:cs typeface="Cambria" pitchFamily="34" charset="-120"/>
              </a:rPr>
              <a:t> architecture</a:t>
            </a:r>
            <a:endParaRPr lang="en-US" sz="2800" dirty="0"/>
          </a:p>
        </p:txBody>
      </p:sp>
      <p:sp>
        <p:nvSpPr>
          <p:cNvPr id="4" name="Shape 2"/>
          <p:cNvSpPr/>
          <p:nvPr/>
        </p:nvSpPr>
        <p:spPr>
          <a:xfrm>
            <a:off x="548640" y="1325879"/>
            <a:ext cx="11064240" cy="4846319"/>
          </a:xfrm>
          <a:prstGeom prst="rect">
            <a:avLst/>
          </a:prstGeom>
          <a:solidFill>
            <a:srgbClr val="F7F9FA"/>
          </a:solidFill>
          <a:ln w="12700">
            <a:solidFill>
              <a:srgbClr val="DCE3E8"/>
            </a:solidFill>
            <a:prstDash val="solid"/>
          </a:ln>
        </p:spPr>
        <p:txBody>
          <a:bodyPr/>
          <a:lstStyle/>
          <a:p>
            <a:endParaRPr lang="en-PK" dirty="0"/>
          </a:p>
        </p:txBody>
      </p:sp>
      <p:sp>
        <p:nvSpPr>
          <p:cNvPr id="5" name="Text 3"/>
          <p:cNvSpPr/>
          <p:nvPr/>
        </p:nvSpPr>
        <p:spPr>
          <a:xfrm>
            <a:off x="822960" y="1490472"/>
            <a:ext cx="4800600" cy="274320"/>
          </a:xfrm>
          <a:prstGeom prst="rect">
            <a:avLst/>
          </a:prstGeom>
          <a:noFill/>
          <a:ln/>
        </p:spPr>
        <p:txBody>
          <a:bodyPr wrap="square" rtlCol="0" anchor="ctr"/>
          <a:lstStyle/>
          <a:p>
            <a:pPr marL="0" indent="0">
              <a:buNone/>
            </a:pPr>
            <a:r>
              <a:rPr lang="en-US" b="1" kern="0" spc="100" dirty="0">
                <a:solidFill>
                  <a:srgbClr val="065A82"/>
                </a:solidFill>
                <a:latin typeface="Calibri" pitchFamily="34" charset="0"/>
                <a:ea typeface="Calibri" pitchFamily="34" charset="-122"/>
                <a:cs typeface="Calibri" pitchFamily="34" charset="-120"/>
              </a:rPr>
              <a:t>STAGE 1 – Full Field Reconstruction</a:t>
            </a:r>
            <a:endParaRPr lang="en-US" dirty="0"/>
          </a:p>
        </p:txBody>
      </p:sp>
      <p:sp>
        <p:nvSpPr>
          <p:cNvPr id="6" name="Text 4"/>
          <p:cNvSpPr/>
          <p:nvPr/>
        </p:nvSpPr>
        <p:spPr>
          <a:xfrm>
            <a:off x="822960" y="2039110"/>
            <a:ext cx="4732451" cy="3913115"/>
          </a:xfrm>
          <a:prstGeom prst="rect">
            <a:avLst/>
          </a:prstGeom>
          <a:noFill/>
          <a:ln/>
        </p:spPr>
        <p:txBody>
          <a:bodyPr wrap="square" rtlCol="0" anchor="ctr"/>
          <a:lstStyle/>
          <a:p>
            <a:pPr marL="0" indent="0">
              <a:lnSpc>
                <a:spcPct val="125000"/>
              </a:lnSpc>
              <a:buNone/>
            </a:pPr>
            <a:r>
              <a:rPr lang="en-US" sz="2000" b="1" dirty="0">
                <a:solidFill>
                  <a:srgbClr val="1B2430"/>
                </a:solidFill>
                <a:latin typeface="Calibri" pitchFamily="34" charset="0"/>
                <a:ea typeface="Calibri" pitchFamily="34" charset="-122"/>
                <a:cs typeface="Calibri" pitchFamily="34" charset="-120"/>
              </a:rPr>
              <a:t>Branch: </a:t>
            </a:r>
          </a:p>
          <a:p>
            <a:pPr marL="0" indent="0">
              <a:lnSpc>
                <a:spcPct val="125000"/>
              </a:lnSpc>
              <a:buNone/>
            </a:pPr>
            <a:r>
              <a:rPr lang="en-US" sz="2000" dirty="0">
                <a:solidFill>
                  <a:srgbClr val="1B2430"/>
                </a:solidFill>
                <a:latin typeface="Calibri" pitchFamily="34" charset="0"/>
                <a:ea typeface="Calibri" pitchFamily="34" charset="-122"/>
                <a:cs typeface="Calibri" pitchFamily="34" charset="-120"/>
              </a:rPr>
              <a:t>Attention U-Net encoder + Transformer/MLP Decoder → K coefficients from a fully observed grid
</a:t>
            </a:r>
            <a:r>
              <a:rPr lang="en-US" sz="2000" b="1" dirty="0">
                <a:solidFill>
                  <a:srgbClr val="1B2430"/>
                </a:solidFill>
                <a:latin typeface="Calibri" pitchFamily="34" charset="0"/>
                <a:ea typeface="Calibri" pitchFamily="34" charset="-122"/>
                <a:cs typeface="Calibri" pitchFamily="34" charset="-120"/>
              </a:rPr>
              <a:t>Trunk: </a:t>
            </a:r>
          </a:p>
          <a:p>
            <a:pPr marL="0" indent="0">
              <a:lnSpc>
                <a:spcPct val="125000"/>
              </a:lnSpc>
              <a:buNone/>
            </a:pPr>
            <a:r>
              <a:rPr lang="en-US" sz="2000" dirty="0">
                <a:solidFill>
                  <a:srgbClr val="1B2430"/>
                </a:solidFill>
                <a:latin typeface="Calibri" pitchFamily="34" charset="0"/>
                <a:ea typeface="Calibri" pitchFamily="34" charset="-122"/>
                <a:cs typeface="Calibri" pitchFamily="34" charset="-120"/>
              </a:rPr>
              <a:t>SIREN network (sine activations) → K basis functions over a coordinate grid
</a:t>
            </a:r>
            <a:r>
              <a:rPr lang="en-US" sz="2000" b="1" dirty="0">
                <a:solidFill>
                  <a:srgbClr val="1B2430"/>
                </a:solidFill>
                <a:latin typeface="Calibri" pitchFamily="34" charset="0"/>
                <a:ea typeface="Calibri" pitchFamily="34" charset="-122"/>
                <a:cs typeface="Calibri" pitchFamily="34" charset="-120"/>
              </a:rPr>
              <a:t>Output: </a:t>
            </a:r>
          </a:p>
          <a:p>
            <a:pPr marL="0" indent="0">
              <a:lnSpc>
                <a:spcPct val="125000"/>
              </a:lnSpc>
              <a:buNone/>
            </a:pPr>
            <a:r>
              <a:rPr lang="en-US" sz="2000" dirty="0">
                <a:solidFill>
                  <a:srgbClr val="1B2430"/>
                </a:solidFill>
                <a:latin typeface="Calibri" pitchFamily="34" charset="0"/>
                <a:ea typeface="Calibri" pitchFamily="34" charset="-122"/>
                <a:cs typeface="Calibri" pitchFamily="34" charset="-120"/>
              </a:rPr>
              <a:t>Field = Σ Coefficients × Basis functions.</a:t>
            </a:r>
          </a:p>
          <a:p>
            <a:pPr marL="0" indent="0">
              <a:lnSpc>
                <a:spcPct val="125000"/>
              </a:lnSpc>
              <a:buNone/>
            </a:pPr>
            <a:r>
              <a:rPr lang="en-US" sz="2000" b="1" dirty="0">
                <a:solidFill>
                  <a:srgbClr val="1B2430"/>
                </a:solidFill>
                <a:latin typeface="Calibri" pitchFamily="34" charset="0"/>
                <a:ea typeface="Calibri" pitchFamily="34" charset="-122"/>
                <a:cs typeface="Calibri" pitchFamily="34" charset="-120"/>
              </a:rPr>
              <a:t>Loss Function: </a:t>
            </a:r>
            <a:r>
              <a:rPr lang="en-US" sz="2000" dirty="0">
                <a:solidFill>
                  <a:srgbClr val="1B2430"/>
                </a:solidFill>
                <a:latin typeface="Calibri" pitchFamily="34" charset="0"/>
                <a:ea typeface="Calibri" pitchFamily="34" charset="-122"/>
                <a:cs typeface="Calibri" pitchFamily="34" charset="-120"/>
              </a:rPr>
              <a:t>MSE on reconstructed field</a:t>
            </a:r>
            <a:endParaRPr lang="en-US" sz="2000" b="1" dirty="0"/>
          </a:p>
        </p:txBody>
      </p:sp>
      <p:sp>
        <p:nvSpPr>
          <p:cNvPr id="12" name="Text 10"/>
          <p:cNvSpPr/>
          <p:nvPr/>
        </p:nvSpPr>
        <p:spPr>
          <a:xfrm>
            <a:off x="6172200" y="1325880"/>
            <a:ext cx="5440680" cy="4846320"/>
          </a:xfrm>
          <a:prstGeom prst="rect">
            <a:avLst/>
          </a:prstGeom>
          <a:noFill/>
          <a:ln/>
        </p:spPr>
        <p:txBody>
          <a:bodyPr wrap="square" rtlCol="0" anchor="ctr"/>
          <a:lstStyle/>
          <a:p>
            <a:pPr marL="0" indent="0" algn="ctr">
              <a:buNone/>
            </a:pPr>
            <a:r>
              <a:rPr lang="en-US" sz="1200" i="1" dirty="0">
                <a:solidFill>
                  <a:srgbClr val="5B6673"/>
                </a:solidFill>
                <a:latin typeface="Calibri" pitchFamily="34" charset="0"/>
                <a:ea typeface="Calibri" pitchFamily="34" charset="-122"/>
                <a:cs typeface="Calibri" pitchFamily="34" charset="-120"/>
              </a:rPr>
              <a:t>Architecture diagram</a:t>
            </a:r>
            <a:endParaRPr lang="en-US" sz="1200" dirty="0"/>
          </a:p>
          <a:p>
            <a:pPr marL="0" indent="0" algn="ctr">
              <a:buNone/>
            </a:pPr>
            <a:r>
              <a:rPr lang="en-US" sz="1200" i="1" dirty="0">
                <a:solidFill>
                  <a:srgbClr val="5B6673"/>
                </a:solidFill>
                <a:latin typeface="Calibri" pitchFamily="34" charset="0"/>
                <a:ea typeface="Calibri" pitchFamily="34" charset="-122"/>
                <a:cs typeface="Calibri" pitchFamily="34" charset="-120"/>
              </a:rPr>
              <a:t>(paste Fig. 1 / block diagram)</a:t>
            </a:r>
            <a:endParaRPr lang="en-US" sz="1200" dirty="0"/>
          </a:p>
        </p:txBody>
      </p:sp>
      <p:sp>
        <p:nvSpPr>
          <p:cNvPr id="13" name="Text 11"/>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B6673"/>
                </a:solidFill>
                <a:latin typeface="Calibri" pitchFamily="34" charset="0"/>
                <a:ea typeface="Calibri" pitchFamily="34" charset="-122"/>
                <a:cs typeface="Calibri" pitchFamily="34" charset="-120"/>
              </a:rPr>
              <a:t>4</a:t>
            </a:r>
            <a:endParaRPr lang="en-US" sz="1000" dirty="0"/>
          </a:p>
        </p:txBody>
      </p:sp>
      <p:pic>
        <p:nvPicPr>
          <p:cNvPr id="15" name="Picture 14">
            <a:extLst>
              <a:ext uri="{FF2B5EF4-FFF2-40B4-BE49-F238E27FC236}">
                <a16:creationId xmlns:a16="http://schemas.microsoft.com/office/drawing/2014/main" id="{1A3CF35A-5989-54C1-A313-1C3E78626DCE}"/>
              </a:ext>
            </a:extLst>
          </p:cNvPr>
          <p:cNvPicPr>
            <a:picLocks noChangeAspect="1"/>
          </p:cNvPicPr>
          <p:nvPr/>
        </p:nvPicPr>
        <p:blipFill>
          <a:blip r:embed="rId3"/>
          <a:stretch>
            <a:fillRect/>
          </a:stretch>
        </p:blipFill>
        <p:spPr>
          <a:xfrm>
            <a:off x="5623560" y="2429024"/>
            <a:ext cx="5769590" cy="220994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8B6F53D-B006-A207-C885-3A97C9D33AB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8176A82-A73C-0689-47DC-934BB91CA9AE}"/>
              </a:ext>
            </a:extLst>
          </p:cNvPr>
          <p:cNvSpPr/>
          <p:nvPr/>
        </p:nvSpPr>
        <p:spPr>
          <a:xfrm>
            <a:off x="548640" y="362827"/>
            <a:ext cx="11064240" cy="274320"/>
          </a:xfrm>
          <a:prstGeom prst="rect">
            <a:avLst/>
          </a:prstGeom>
          <a:noFill/>
          <a:ln/>
        </p:spPr>
        <p:txBody>
          <a:bodyPr wrap="square"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MODEL</a:t>
            </a:r>
            <a:endParaRPr lang="en-US" sz="1100" dirty="0"/>
          </a:p>
        </p:txBody>
      </p:sp>
      <p:sp>
        <p:nvSpPr>
          <p:cNvPr id="3" name="Text 1">
            <a:extLst>
              <a:ext uri="{FF2B5EF4-FFF2-40B4-BE49-F238E27FC236}">
                <a16:creationId xmlns:a16="http://schemas.microsoft.com/office/drawing/2014/main" id="{49B56D1D-9B66-1069-9974-1454F41C5D80}"/>
              </a:ext>
            </a:extLst>
          </p:cNvPr>
          <p:cNvSpPr/>
          <p:nvPr/>
        </p:nvSpPr>
        <p:spPr>
          <a:xfrm>
            <a:off x="548640" y="583734"/>
            <a:ext cx="11064240" cy="640080"/>
          </a:xfrm>
          <a:prstGeom prst="rect">
            <a:avLst/>
          </a:prstGeom>
          <a:noFill/>
          <a:ln/>
        </p:spPr>
        <p:txBody>
          <a:bodyPr wrap="square" rtlCol="0" anchor="ctr"/>
          <a:lstStyle/>
          <a:p>
            <a:pPr marL="0" indent="0" algn="l">
              <a:buNone/>
            </a:pPr>
            <a:r>
              <a:rPr lang="en-US" sz="2800" b="1" dirty="0" err="1">
                <a:solidFill>
                  <a:srgbClr val="1B2430"/>
                </a:solidFill>
                <a:latin typeface="Cambria" pitchFamily="34" charset="0"/>
                <a:ea typeface="Cambria" pitchFamily="34" charset="-122"/>
                <a:cs typeface="Cambria" pitchFamily="34" charset="-120"/>
              </a:rPr>
              <a:t>BLISSNet</a:t>
            </a:r>
            <a:r>
              <a:rPr lang="en-US" sz="2800" b="1" dirty="0">
                <a:solidFill>
                  <a:srgbClr val="1B2430"/>
                </a:solidFill>
                <a:latin typeface="Cambria" pitchFamily="34" charset="0"/>
                <a:ea typeface="Cambria" pitchFamily="34" charset="-122"/>
                <a:cs typeface="Cambria" pitchFamily="34" charset="-120"/>
              </a:rPr>
              <a:t> architecture</a:t>
            </a:r>
            <a:endParaRPr lang="en-US" sz="2800" dirty="0"/>
          </a:p>
        </p:txBody>
      </p:sp>
      <p:sp>
        <p:nvSpPr>
          <p:cNvPr id="4" name="Shape 2">
            <a:extLst>
              <a:ext uri="{FF2B5EF4-FFF2-40B4-BE49-F238E27FC236}">
                <a16:creationId xmlns:a16="http://schemas.microsoft.com/office/drawing/2014/main" id="{ECFAE686-D6D9-A2DC-DC9F-2705F96AC80F}"/>
              </a:ext>
            </a:extLst>
          </p:cNvPr>
          <p:cNvSpPr/>
          <p:nvPr/>
        </p:nvSpPr>
        <p:spPr>
          <a:xfrm>
            <a:off x="548640" y="1325879"/>
            <a:ext cx="11064240" cy="4846319"/>
          </a:xfrm>
          <a:prstGeom prst="rect">
            <a:avLst/>
          </a:prstGeom>
          <a:solidFill>
            <a:srgbClr val="F7F9FA"/>
          </a:solidFill>
          <a:ln w="12700">
            <a:solidFill>
              <a:srgbClr val="DCE3E8"/>
            </a:solidFill>
            <a:prstDash val="solid"/>
          </a:ln>
        </p:spPr>
        <p:txBody>
          <a:bodyPr/>
          <a:lstStyle/>
          <a:p>
            <a:endParaRPr lang="en-PK" dirty="0"/>
          </a:p>
        </p:txBody>
      </p:sp>
      <p:sp>
        <p:nvSpPr>
          <p:cNvPr id="5" name="Text 3">
            <a:extLst>
              <a:ext uri="{FF2B5EF4-FFF2-40B4-BE49-F238E27FC236}">
                <a16:creationId xmlns:a16="http://schemas.microsoft.com/office/drawing/2014/main" id="{B0F28C95-3CF8-0591-BE3F-E89127DE3592}"/>
              </a:ext>
            </a:extLst>
          </p:cNvPr>
          <p:cNvSpPr/>
          <p:nvPr/>
        </p:nvSpPr>
        <p:spPr>
          <a:xfrm>
            <a:off x="822960" y="1490472"/>
            <a:ext cx="4800600" cy="274320"/>
          </a:xfrm>
          <a:prstGeom prst="rect">
            <a:avLst/>
          </a:prstGeom>
          <a:noFill/>
          <a:ln/>
        </p:spPr>
        <p:txBody>
          <a:bodyPr wrap="square" rtlCol="0" anchor="ctr"/>
          <a:lstStyle/>
          <a:p>
            <a:pPr marL="0" indent="0">
              <a:buNone/>
            </a:pPr>
            <a:r>
              <a:rPr lang="en-US" b="1" kern="0" spc="100" dirty="0">
                <a:solidFill>
                  <a:srgbClr val="065A82"/>
                </a:solidFill>
                <a:latin typeface="Calibri" pitchFamily="34" charset="0"/>
                <a:ea typeface="Calibri" pitchFamily="34" charset="-122"/>
                <a:cs typeface="Calibri" pitchFamily="34" charset="-120"/>
              </a:rPr>
              <a:t>STAGE 2 – Sparse Field Interpolation</a:t>
            </a:r>
            <a:endParaRPr lang="en-US" dirty="0"/>
          </a:p>
        </p:txBody>
      </p:sp>
      <p:sp>
        <p:nvSpPr>
          <p:cNvPr id="6" name="Text 4">
            <a:extLst>
              <a:ext uri="{FF2B5EF4-FFF2-40B4-BE49-F238E27FC236}">
                <a16:creationId xmlns:a16="http://schemas.microsoft.com/office/drawing/2014/main" id="{30AD7CD4-90FE-DD07-3080-1953393C97A0}"/>
              </a:ext>
            </a:extLst>
          </p:cNvPr>
          <p:cNvSpPr/>
          <p:nvPr/>
        </p:nvSpPr>
        <p:spPr>
          <a:xfrm>
            <a:off x="798850" y="2273921"/>
            <a:ext cx="4732451" cy="2950233"/>
          </a:xfrm>
          <a:prstGeom prst="rect">
            <a:avLst/>
          </a:prstGeom>
          <a:noFill/>
          <a:ln/>
        </p:spPr>
        <p:txBody>
          <a:bodyPr wrap="square" rtlCol="0" anchor="ctr"/>
          <a:lstStyle/>
          <a:p>
            <a:pPr>
              <a:lnSpc>
                <a:spcPct val="125000"/>
              </a:lnSpc>
            </a:pPr>
            <a:r>
              <a:rPr lang="en-US" sz="2000" b="1" dirty="0">
                <a:solidFill>
                  <a:srgbClr val="1B2430"/>
                </a:solidFill>
                <a:latin typeface="Calibri" pitchFamily="34" charset="0"/>
                <a:ea typeface="Calibri" pitchFamily="34" charset="-122"/>
                <a:cs typeface="Calibri" pitchFamily="34" charset="-120"/>
              </a:rPr>
              <a:t>Trunk + decoder frozen </a:t>
            </a:r>
            <a:r>
              <a:rPr lang="en-US" sz="2000" dirty="0">
                <a:solidFill>
                  <a:srgbClr val="1B2430"/>
                </a:solidFill>
                <a:latin typeface="Calibri" pitchFamily="34" charset="0"/>
                <a:ea typeface="Calibri" pitchFamily="34" charset="-122"/>
                <a:cs typeface="Calibri" pitchFamily="34" charset="-120"/>
              </a:rPr>
              <a:t>from Stage 1
</a:t>
            </a:r>
            <a:r>
              <a:rPr lang="en-US" sz="2000" b="1" dirty="0">
                <a:solidFill>
                  <a:srgbClr val="1B2430"/>
                </a:solidFill>
                <a:latin typeface="Calibri" pitchFamily="34" charset="0"/>
                <a:ea typeface="Calibri" pitchFamily="34" charset="-122"/>
                <a:cs typeface="Calibri" pitchFamily="34" charset="-120"/>
              </a:rPr>
              <a:t>New encoder: </a:t>
            </a:r>
          </a:p>
          <a:p>
            <a:pPr>
              <a:lnSpc>
                <a:spcPct val="125000"/>
              </a:lnSpc>
            </a:pPr>
            <a:r>
              <a:rPr lang="en-US" sz="2000" dirty="0" err="1">
                <a:solidFill>
                  <a:srgbClr val="1B2430"/>
                </a:solidFill>
                <a:latin typeface="Calibri" pitchFamily="34" charset="0"/>
                <a:ea typeface="Calibri" pitchFamily="34" charset="-122"/>
                <a:cs typeface="Calibri" pitchFamily="34" charset="-120"/>
              </a:rPr>
              <a:t>OFormer</a:t>
            </a:r>
            <a:r>
              <a:rPr lang="en-US" sz="2000" dirty="0">
                <a:solidFill>
                  <a:srgbClr val="1B2430"/>
                </a:solidFill>
                <a:latin typeface="Calibri" pitchFamily="34" charset="0"/>
                <a:ea typeface="Calibri" pitchFamily="34" charset="-122"/>
                <a:cs typeface="Calibri" pitchFamily="34" charset="-120"/>
              </a:rPr>
              <a:t>-style transformer encodes sparse, variable-count sensor coordinates + values
</a:t>
            </a:r>
            <a:r>
              <a:rPr lang="en-US" sz="2000" b="1" dirty="0">
                <a:solidFill>
                  <a:srgbClr val="1B2430"/>
                </a:solidFill>
                <a:latin typeface="Calibri" pitchFamily="34" charset="0"/>
                <a:ea typeface="Calibri" pitchFamily="34" charset="-122"/>
                <a:cs typeface="Calibri" pitchFamily="34" charset="-120"/>
              </a:rPr>
              <a:t>Fixed cross-attention: </a:t>
            </a:r>
          </a:p>
          <a:p>
            <a:pPr>
              <a:lnSpc>
                <a:spcPct val="125000"/>
              </a:lnSpc>
            </a:pPr>
            <a:r>
              <a:rPr lang="en-US" sz="2000" dirty="0">
                <a:solidFill>
                  <a:srgbClr val="1B2430"/>
                </a:solidFill>
                <a:latin typeface="Calibri" pitchFamily="34" charset="0"/>
                <a:ea typeface="Calibri" pitchFamily="34" charset="-122"/>
                <a:cs typeface="Calibri" pitchFamily="34" charset="-120"/>
              </a:rPr>
              <a:t>Queries a fixed 128×2 grid → constant-size coefficient vector (avoids O(D²) cross-attention cost)</a:t>
            </a:r>
            <a:endParaRPr lang="en-US" sz="2000" dirty="0"/>
          </a:p>
        </p:txBody>
      </p:sp>
      <p:sp>
        <p:nvSpPr>
          <p:cNvPr id="12" name="Text 10">
            <a:extLst>
              <a:ext uri="{FF2B5EF4-FFF2-40B4-BE49-F238E27FC236}">
                <a16:creationId xmlns:a16="http://schemas.microsoft.com/office/drawing/2014/main" id="{47B563EC-FCFB-3459-1217-CD91D62725A1}"/>
              </a:ext>
            </a:extLst>
          </p:cNvPr>
          <p:cNvSpPr/>
          <p:nvPr/>
        </p:nvSpPr>
        <p:spPr>
          <a:xfrm>
            <a:off x="6172200" y="1325880"/>
            <a:ext cx="5440680" cy="4846320"/>
          </a:xfrm>
          <a:prstGeom prst="rect">
            <a:avLst/>
          </a:prstGeom>
          <a:noFill/>
          <a:ln/>
        </p:spPr>
        <p:txBody>
          <a:bodyPr wrap="square" rtlCol="0" anchor="ctr"/>
          <a:lstStyle/>
          <a:p>
            <a:pPr marL="0" indent="0" algn="ctr">
              <a:buNone/>
            </a:pPr>
            <a:r>
              <a:rPr lang="en-US" sz="1200" i="1" dirty="0">
                <a:solidFill>
                  <a:srgbClr val="5B6673"/>
                </a:solidFill>
                <a:latin typeface="Calibri" pitchFamily="34" charset="0"/>
                <a:ea typeface="Calibri" pitchFamily="34" charset="-122"/>
                <a:cs typeface="Calibri" pitchFamily="34" charset="-120"/>
              </a:rPr>
              <a:t>Architecture diagram</a:t>
            </a:r>
            <a:endParaRPr lang="en-US" sz="1200" dirty="0"/>
          </a:p>
          <a:p>
            <a:pPr marL="0" indent="0" algn="ctr">
              <a:buNone/>
            </a:pPr>
            <a:r>
              <a:rPr lang="en-US" sz="1200" i="1" dirty="0">
                <a:solidFill>
                  <a:srgbClr val="5B6673"/>
                </a:solidFill>
                <a:latin typeface="Calibri" pitchFamily="34" charset="0"/>
                <a:ea typeface="Calibri" pitchFamily="34" charset="-122"/>
                <a:cs typeface="Calibri" pitchFamily="34" charset="-120"/>
              </a:rPr>
              <a:t>(paste Fig. 1 / block diagram)</a:t>
            </a:r>
            <a:endParaRPr lang="en-US" sz="1200" dirty="0"/>
          </a:p>
        </p:txBody>
      </p:sp>
      <p:sp>
        <p:nvSpPr>
          <p:cNvPr id="13" name="Text 11">
            <a:extLst>
              <a:ext uri="{FF2B5EF4-FFF2-40B4-BE49-F238E27FC236}">
                <a16:creationId xmlns:a16="http://schemas.microsoft.com/office/drawing/2014/main" id="{93871CF7-B769-7D37-FF37-016C534CF023}"/>
              </a:ext>
            </a:extLst>
          </p:cNvPr>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B6673"/>
                </a:solidFill>
                <a:latin typeface="Calibri" pitchFamily="34" charset="0"/>
                <a:ea typeface="Calibri" pitchFamily="34" charset="-122"/>
                <a:cs typeface="Calibri" pitchFamily="34" charset="-120"/>
              </a:rPr>
              <a:t>4</a:t>
            </a:r>
            <a:endParaRPr lang="en-US" sz="1000" dirty="0"/>
          </a:p>
        </p:txBody>
      </p:sp>
      <p:pic>
        <p:nvPicPr>
          <p:cNvPr id="8" name="Picture 7">
            <a:extLst>
              <a:ext uri="{FF2B5EF4-FFF2-40B4-BE49-F238E27FC236}">
                <a16:creationId xmlns:a16="http://schemas.microsoft.com/office/drawing/2014/main" id="{B093951F-214F-E14D-ED20-8B9CE91A0C5D}"/>
              </a:ext>
            </a:extLst>
          </p:cNvPr>
          <p:cNvPicPr>
            <a:picLocks noChangeAspect="1"/>
          </p:cNvPicPr>
          <p:nvPr/>
        </p:nvPicPr>
        <p:blipFill>
          <a:blip r:embed="rId3"/>
          <a:stretch>
            <a:fillRect/>
          </a:stretch>
        </p:blipFill>
        <p:spPr>
          <a:xfrm>
            <a:off x="5623560" y="2410909"/>
            <a:ext cx="5445742" cy="2288185"/>
          </a:xfrm>
          <a:prstGeom prst="rect">
            <a:avLst/>
          </a:prstGeom>
        </p:spPr>
      </p:pic>
    </p:spTree>
    <p:extLst>
      <p:ext uri="{BB962C8B-B14F-4D97-AF65-F5344CB8AC3E}">
        <p14:creationId xmlns:p14="http://schemas.microsoft.com/office/powerpoint/2010/main" val="3720172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3880" y="400266"/>
            <a:ext cx="11064240" cy="640080"/>
          </a:xfrm>
          <a:prstGeom prst="rect">
            <a:avLst/>
          </a:prstGeom>
          <a:noFill/>
          <a:ln/>
        </p:spPr>
        <p:txBody>
          <a:bodyPr wrap="square" rtlCol="0" anchor="ctr"/>
          <a:lstStyle/>
          <a:p>
            <a:pPr marL="0" indent="0" algn="l">
              <a:buNone/>
            </a:pPr>
            <a:r>
              <a:rPr lang="en-US" sz="2800" b="1" dirty="0">
                <a:solidFill>
                  <a:srgbClr val="1B2430"/>
                </a:solidFill>
                <a:latin typeface="Cambria" pitchFamily="34" charset="0"/>
                <a:ea typeface="Cambria" pitchFamily="34" charset="-122"/>
                <a:cs typeface="Cambria" pitchFamily="34" charset="-120"/>
              </a:rPr>
              <a:t>Training pipeline</a:t>
            </a:r>
            <a:endParaRPr lang="en-US" sz="2800" dirty="0"/>
          </a:p>
        </p:txBody>
      </p:sp>
      <p:sp>
        <p:nvSpPr>
          <p:cNvPr id="4" name="Text 2"/>
          <p:cNvSpPr/>
          <p:nvPr/>
        </p:nvSpPr>
        <p:spPr>
          <a:xfrm>
            <a:off x="548640" y="1188720"/>
            <a:ext cx="10972800" cy="411480"/>
          </a:xfrm>
          <a:prstGeom prst="rect">
            <a:avLst/>
          </a:prstGeom>
          <a:noFill/>
          <a:ln/>
        </p:spPr>
        <p:txBody>
          <a:bodyPr wrap="square" rtlCol="0" anchor="ctr"/>
          <a:lstStyle/>
          <a:p>
            <a:pPr marL="0" indent="0">
              <a:buNone/>
            </a:pPr>
            <a:r>
              <a:rPr lang="en-US" sz="1300" dirty="0">
                <a:latin typeface="Calibri" pitchFamily="34" charset="0"/>
                <a:ea typeface="Calibri" pitchFamily="34" charset="-122"/>
                <a:cs typeface="Calibri" pitchFamily="34" charset="-120"/>
              </a:rPr>
              <a:t>Three models trained independently. One per region and each with its own trunk, where each trunk is trained on coordinates from that region although the normalization of coordinates for every model was global [-1, 1] to test cross-generalization.</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2194560"/>
        </p:xfrm>
        <a:graphic>
          <a:graphicData uri="http://schemas.openxmlformats.org/drawingml/2006/table">
            <a:tbl>
              <a:tblPr/>
              <a:tblGrid>
                <a:gridCol w="292608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tblGrid>
              <a:tr h="365760">
                <a:tc>
                  <a:txBody>
                    <a:bodyPr/>
                    <a:lstStyle/>
                    <a:p>
                      <a:pPr marL="0" indent="0">
                        <a:buNone/>
                      </a:pPr>
                      <a:r>
                        <a:rPr lang="en-US" sz="1100" b="1" dirty="0">
                          <a:solidFill>
                            <a:srgbClr val="1B2430"/>
                          </a:solidFill>
                        </a:rPr>
                        <a:t>Embedding dim</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dirty="0">
                          <a:solidFill>
                            <a:srgbClr val="065A82"/>
                          </a:solidFill>
                        </a:rPr>
                        <a:t>512</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b="1" dirty="0">
                          <a:solidFill>
                            <a:srgbClr val="1B2430"/>
                          </a:solidFill>
                        </a:rPr>
                        <a:t>Basis functions K</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dirty="0">
                          <a:solidFill>
                            <a:srgbClr val="065A82"/>
                          </a:solidFill>
                        </a:rPr>
                        <a:t>512</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extLst>
                  <a:ext uri="{0D108BD9-81ED-4DB2-BD59-A6C34878D82A}">
                    <a16:rowId xmlns:a16="http://schemas.microsoft.com/office/drawing/2014/main" val="10000"/>
                  </a:ext>
                </a:extLst>
              </a:tr>
              <a:tr h="365760">
                <a:tc>
                  <a:txBody>
                    <a:bodyPr/>
                    <a:lstStyle/>
                    <a:p>
                      <a:pPr marL="0" indent="0">
                        <a:buNone/>
                      </a:pPr>
                      <a:r>
                        <a:rPr lang="en-US" sz="1100" b="1" dirty="0">
                          <a:solidFill>
                            <a:srgbClr val="1B2430"/>
                          </a:solidFill>
                        </a:rPr>
                        <a:t>Attention heads</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dirty="0">
                          <a:solidFill>
                            <a:srgbClr val="065A82"/>
                          </a:solidFill>
                        </a:rPr>
                        <a:t>8</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b="1" dirty="0">
                          <a:solidFill>
                            <a:srgbClr val="1B2430"/>
                          </a:solidFill>
                        </a:rPr>
                        <a:t>Batch size</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dirty="0">
                          <a:solidFill>
                            <a:srgbClr val="065A82"/>
                          </a:solidFill>
                        </a:rPr>
                        <a:t>32</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extLst>
                  <a:ext uri="{0D108BD9-81ED-4DB2-BD59-A6C34878D82A}">
                    <a16:rowId xmlns:a16="http://schemas.microsoft.com/office/drawing/2014/main" val="10001"/>
                  </a:ext>
                </a:extLst>
              </a:tr>
              <a:tr h="365760">
                <a:tc>
                  <a:txBody>
                    <a:bodyPr/>
                    <a:lstStyle/>
                    <a:p>
                      <a:pPr marL="0" indent="0">
                        <a:buNone/>
                      </a:pPr>
                      <a:r>
                        <a:rPr lang="en-US" sz="1100" b="1" dirty="0">
                          <a:solidFill>
                            <a:srgbClr val="1B2430"/>
                          </a:solidFill>
                        </a:rPr>
                        <a:t>Learning rate</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dirty="0">
                          <a:solidFill>
                            <a:srgbClr val="065A82"/>
                          </a:solidFill>
                        </a:rPr>
                        <a:t>1e-5</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b="1" dirty="0">
                          <a:solidFill>
                            <a:srgbClr val="1B2430"/>
                          </a:solidFill>
                        </a:rPr>
                        <a:t>Dropout</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dirty="0">
                          <a:solidFill>
                            <a:srgbClr val="065A82"/>
                          </a:solidFill>
                        </a:rPr>
                        <a:t>0.1</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extLst>
                  <a:ext uri="{0D108BD9-81ED-4DB2-BD59-A6C34878D82A}">
                    <a16:rowId xmlns:a16="http://schemas.microsoft.com/office/drawing/2014/main" val="10002"/>
                  </a:ext>
                </a:extLst>
              </a:tr>
              <a:tr h="365760">
                <a:tc>
                  <a:txBody>
                    <a:bodyPr/>
                    <a:lstStyle/>
                    <a:p>
                      <a:pPr marL="0" indent="0">
                        <a:buNone/>
                      </a:pPr>
                      <a:r>
                        <a:rPr lang="en-US" sz="1100" b="1" dirty="0">
                          <a:solidFill>
                            <a:srgbClr val="1B2430"/>
                          </a:solidFill>
                        </a:rPr>
                        <a:t>SIREN hidden / layers</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dirty="0">
                          <a:solidFill>
                            <a:srgbClr val="065A82"/>
                          </a:solidFill>
                        </a:rPr>
                        <a:t>512 / 4</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b="1" dirty="0">
                          <a:solidFill>
                            <a:srgbClr val="1B2430"/>
                          </a:solidFill>
                        </a:rPr>
                        <a:t>SIREN ω₀</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dirty="0">
                          <a:solidFill>
                            <a:srgbClr val="065A82"/>
                          </a:solidFill>
                        </a:rPr>
                        <a:t>30</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extLst>
                  <a:ext uri="{0D108BD9-81ED-4DB2-BD59-A6C34878D82A}">
                    <a16:rowId xmlns:a16="http://schemas.microsoft.com/office/drawing/2014/main" val="10003"/>
                  </a:ext>
                </a:extLst>
              </a:tr>
              <a:tr h="365760">
                <a:tc>
                  <a:txBody>
                    <a:bodyPr/>
                    <a:lstStyle/>
                    <a:p>
                      <a:pPr marL="0" indent="0">
                        <a:buNone/>
                      </a:pPr>
                      <a:r>
                        <a:rPr lang="en-US" sz="1100" b="1" dirty="0">
                          <a:solidFill>
                            <a:srgbClr val="1B2430"/>
                          </a:solidFill>
                        </a:rPr>
                        <a:t>U-Net base channels</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dirty="0">
                          <a:solidFill>
                            <a:srgbClr val="065A82"/>
                          </a:solidFill>
                        </a:rPr>
                        <a:t>64</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b="1" dirty="0">
                          <a:solidFill>
                            <a:srgbClr val="1B2430"/>
                          </a:solidFill>
                        </a:rPr>
                        <a:t>Epochs / stage</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dirty="0">
                          <a:solidFill>
                            <a:srgbClr val="065A82"/>
                          </a:solidFill>
                        </a:rPr>
                        <a:t>15</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extLst>
                  <a:ext uri="{0D108BD9-81ED-4DB2-BD59-A6C34878D82A}">
                    <a16:rowId xmlns:a16="http://schemas.microsoft.com/office/drawing/2014/main" val="10004"/>
                  </a:ext>
                </a:extLst>
              </a:tr>
              <a:tr h="365760">
                <a:tc>
                  <a:txBody>
                    <a:bodyPr/>
                    <a:lstStyle/>
                    <a:p>
                      <a:pPr marL="0" indent="0">
                        <a:buNone/>
                      </a:pPr>
                      <a:r>
                        <a:rPr lang="en-US" sz="1100" b="1" dirty="0">
                          <a:solidFill>
                            <a:srgbClr val="1B2430"/>
                          </a:solidFill>
                        </a:rPr>
                        <a:t>Train / test split</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dirty="0">
                          <a:solidFill>
                            <a:srgbClr val="065A82"/>
                          </a:solidFill>
                        </a:rPr>
                        <a:t>90 / 10</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b="1" dirty="0">
                          <a:solidFill>
                            <a:srgbClr val="1B2430"/>
                          </a:solidFill>
                        </a:rPr>
                        <a:t>Loss weights (λcp,λcoef,λemb,λgt)</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tc>
                  <a:txBody>
                    <a:bodyPr/>
                    <a:lstStyle/>
                    <a:p>
                      <a:pPr marL="0" indent="0">
                        <a:buNone/>
                      </a:pPr>
                      <a:r>
                        <a:rPr lang="en-US" sz="1100" dirty="0">
                          <a:solidFill>
                            <a:srgbClr val="065A82"/>
                          </a:solidFill>
                        </a:rPr>
                        <a:t>100, 40, 0.01, 0.5</a:t>
                      </a:r>
                      <a:endParaRPr lang="en-US" sz="1100" dirty="0"/>
                    </a:p>
                  </a:txBody>
                  <a:tcPr anchor="ctr">
                    <a:lnL w="6350" cap="flat" cmpd="sng" algn="ctr">
                      <a:solidFill>
                        <a:srgbClr val="E4E9EC"/>
                      </a:solidFill>
                      <a:prstDash val="solid"/>
                      <a:round/>
                      <a:headEnd type="none" w="med" len="med"/>
                      <a:tailEnd type="none" w="med" len="med"/>
                    </a:lnL>
                    <a:lnR w="6350" cap="flat" cmpd="sng" algn="ctr">
                      <a:solidFill>
                        <a:srgbClr val="E4E9EC"/>
                      </a:solidFill>
                      <a:prstDash val="solid"/>
                      <a:round/>
                      <a:headEnd type="none" w="med" len="med"/>
                      <a:tailEnd type="none" w="med" len="med"/>
                    </a:lnR>
                    <a:lnT w="6350" cap="flat" cmpd="sng" algn="ctr">
                      <a:solidFill>
                        <a:srgbClr val="E4E9EC"/>
                      </a:solidFill>
                      <a:prstDash val="solid"/>
                      <a:round/>
                      <a:headEnd type="none" w="med" len="med"/>
                      <a:tailEnd type="none" w="med" len="med"/>
                    </a:lnT>
                    <a:lnB w="6350" cap="flat" cmpd="sng" algn="ctr">
                      <a:solidFill>
                        <a:srgbClr val="E4E9EC"/>
                      </a:solidFill>
                      <a:prstDash val="solid"/>
                      <a:round/>
                      <a:headEnd type="none" w="med" len="med"/>
                      <a:tailEnd type="none" w="med" len="med"/>
                    </a:lnB>
                    <a:solidFill>
                      <a:srgbClr val="F7F9FA"/>
                    </a:solidFill>
                  </a:tcPr>
                </a:tc>
                <a:extLst>
                  <a:ext uri="{0D108BD9-81ED-4DB2-BD59-A6C34878D82A}">
                    <a16:rowId xmlns:a16="http://schemas.microsoft.com/office/drawing/2014/main" val="10005"/>
                  </a:ext>
                </a:extLst>
              </a:tr>
            </a:tbl>
          </a:graphicData>
        </a:graphic>
      </p:graphicFrame>
      <p:sp>
        <p:nvSpPr>
          <p:cNvPr id="5" name="Text 3"/>
          <p:cNvSpPr/>
          <p:nvPr/>
        </p:nvSpPr>
        <p:spPr>
          <a:xfrm>
            <a:off x="548640" y="4206240"/>
            <a:ext cx="2743200" cy="27432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Stage 2 sparsity</a:t>
            </a:r>
            <a:endParaRPr lang="en-US" sz="1400" dirty="0"/>
          </a:p>
        </p:txBody>
      </p:sp>
      <p:sp>
        <p:nvSpPr>
          <p:cNvPr id="7" name="Text 4"/>
          <p:cNvSpPr/>
          <p:nvPr/>
        </p:nvSpPr>
        <p:spPr>
          <a:xfrm>
            <a:off x="548640" y="4526280"/>
            <a:ext cx="5349240" cy="914400"/>
          </a:xfrm>
          <a:prstGeom prst="rect">
            <a:avLst/>
          </a:prstGeom>
          <a:noFill/>
          <a:ln/>
        </p:spPr>
        <p:txBody>
          <a:bodyPr wrap="square" rtlCol="0" anchor="ctr"/>
          <a:lstStyle/>
          <a:p>
            <a:pPr marL="0" indent="0">
              <a:lnSpc>
                <a:spcPct val="120000"/>
              </a:lnSpc>
              <a:buNone/>
            </a:pPr>
            <a:r>
              <a:rPr lang="en-US" sz="1250" dirty="0">
                <a:latin typeface="Calibri" pitchFamily="34" charset="0"/>
                <a:ea typeface="Calibri" pitchFamily="34" charset="-122"/>
                <a:cs typeface="Calibri" pitchFamily="34" charset="-120"/>
              </a:rPr>
              <a:t>Each training sample subsamples 0.5–5% of grid points at random as the observed sensor set, forcing the Stage-2 encoder to interpolate from a variable, sparse input.</a:t>
            </a:r>
            <a:endParaRPr lang="en-US" sz="1250" dirty="0"/>
          </a:p>
        </p:txBody>
      </p:sp>
      <p:sp>
        <p:nvSpPr>
          <p:cNvPr id="8" name="Text 5"/>
          <p:cNvSpPr/>
          <p:nvPr/>
        </p:nvSpPr>
        <p:spPr>
          <a:xfrm>
            <a:off x="6172200" y="4206240"/>
            <a:ext cx="2743200" cy="27432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Per-region runs</a:t>
            </a:r>
            <a:endParaRPr lang="en-US" sz="1400" dirty="0"/>
          </a:p>
        </p:txBody>
      </p:sp>
      <p:sp>
        <p:nvSpPr>
          <p:cNvPr id="9" name="Text 6"/>
          <p:cNvSpPr/>
          <p:nvPr/>
        </p:nvSpPr>
        <p:spPr>
          <a:xfrm>
            <a:off x="6172200" y="4469346"/>
            <a:ext cx="5440680" cy="914400"/>
          </a:xfrm>
          <a:prstGeom prst="rect">
            <a:avLst/>
          </a:prstGeom>
          <a:noFill/>
          <a:ln/>
        </p:spPr>
        <p:txBody>
          <a:bodyPr wrap="square" rtlCol="0" anchor="ctr"/>
          <a:lstStyle/>
          <a:p>
            <a:pPr marL="0" indent="0">
              <a:lnSpc>
                <a:spcPct val="120000"/>
              </a:lnSpc>
              <a:buNone/>
            </a:pPr>
            <a:r>
              <a:rPr lang="en-US" sz="1250" dirty="0">
                <a:latin typeface="Calibri" pitchFamily="34" charset="0"/>
                <a:ea typeface="Calibri" pitchFamily="34" charset="-122"/>
                <a:cs typeface="Calibri" pitchFamily="34" charset="-120"/>
              </a:rPr>
              <a:t>South Asia, Punjab, and Karnataka models are trained back-to-back with identical hyperparameters, isolating region as the only variable across the three runs.</a:t>
            </a:r>
            <a:endParaRPr lang="en-US" sz="1250" dirty="0"/>
          </a:p>
        </p:txBody>
      </p:sp>
      <p:sp>
        <p:nvSpPr>
          <p:cNvPr id="10" name="Text 7"/>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B66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480060"/>
            <a:ext cx="11064240" cy="640080"/>
          </a:xfrm>
          <a:prstGeom prst="rect">
            <a:avLst/>
          </a:prstGeom>
          <a:noFill/>
          <a:ln/>
        </p:spPr>
        <p:txBody>
          <a:bodyPr wrap="square" rtlCol="0" anchor="ctr"/>
          <a:lstStyle/>
          <a:p>
            <a:pPr marL="0" indent="0" algn="l">
              <a:buNone/>
            </a:pPr>
            <a:r>
              <a:rPr lang="en-US" sz="2800" b="1" dirty="0">
                <a:solidFill>
                  <a:srgbClr val="1B2430"/>
                </a:solidFill>
                <a:latin typeface="Cambria" pitchFamily="34" charset="0"/>
                <a:ea typeface="Cambria" pitchFamily="34" charset="-122"/>
                <a:cs typeface="Cambria" pitchFamily="34" charset="-120"/>
              </a:rPr>
              <a:t>Loss function and evaluation metrics</a:t>
            </a:r>
            <a:endParaRPr lang="en-US" sz="2800" dirty="0"/>
          </a:p>
        </p:txBody>
      </p:sp>
      <p:sp>
        <p:nvSpPr>
          <p:cNvPr id="4" name="Text 2"/>
          <p:cNvSpPr/>
          <p:nvPr/>
        </p:nvSpPr>
        <p:spPr>
          <a:xfrm>
            <a:off x="548640" y="1234440"/>
            <a:ext cx="5394960" cy="27432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Stage 1 loss</a:t>
            </a:r>
            <a:endParaRPr lang="en-US" sz="1400" dirty="0"/>
          </a:p>
        </p:txBody>
      </p:sp>
      <p:sp>
        <p:nvSpPr>
          <p:cNvPr id="5" name="Text 3"/>
          <p:cNvSpPr/>
          <p:nvPr/>
        </p:nvSpPr>
        <p:spPr>
          <a:xfrm>
            <a:off x="548640" y="1536192"/>
            <a:ext cx="5394960" cy="457200"/>
          </a:xfrm>
          <a:prstGeom prst="rect">
            <a:avLst/>
          </a:prstGeom>
          <a:noFill/>
          <a:ln/>
        </p:spPr>
        <p:txBody>
          <a:bodyPr wrap="square" rtlCol="0" anchor="ctr"/>
          <a:lstStyle/>
          <a:p>
            <a:pPr marL="0" indent="0">
              <a:lnSpc>
                <a:spcPct val="120000"/>
              </a:lnSpc>
              <a:buNone/>
            </a:pPr>
            <a:r>
              <a:rPr lang="en-US" sz="1200" dirty="0">
                <a:solidFill>
                  <a:srgbClr val="1B2430"/>
                </a:solidFill>
                <a:latin typeface="Calibri" pitchFamily="34" charset="0"/>
                <a:ea typeface="Calibri" pitchFamily="34" charset="-122"/>
                <a:cs typeface="Calibri" pitchFamily="34" charset="-120"/>
              </a:rPr>
              <a:t>Cumulative MSE between the full reconstructed field and ground truth.</a:t>
            </a:r>
            <a:endParaRPr lang="en-US" sz="1200" dirty="0"/>
          </a:p>
        </p:txBody>
      </p:sp>
      <p:sp>
        <p:nvSpPr>
          <p:cNvPr id="6" name="Text 4"/>
          <p:cNvSpPr/>
          <p:nvPr/>
        </p:nvSpPr>
        <p:spPr>
          <a:xfrm>
            <a:off x="548640" y="2103120"/>
            <a:ext cx="5394960" cy="27432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Stage 2 loss (four terms)</a:t>
            </a:r>
            <a:endParaRPr lang="en-US" sz="1400" dirty="0"/>
          </a:p>
        </p:txBody>
      </p:sp>
      <p:sp>
        <p:nvSpPr>
          <p:cNvPr id="7" name="Shape 5"/>
          <p:cNvSpPr/>
          <p:nvPr/>
        </p:nvSpPr>
        <p:spPr>
          <a:xfrm>
            <a:off x="548640" y="2423160"/>
            <a:ext cx="5394960" cy="502920"/>
          </a:xfrm>
          <a:prstGeom prst="rect">
            <a:avLst/>
          </a:prstGeom>
          <a:solidFill>
            <a:srgbClr val="F7F9FA"/>
          </a:solidFill>
          <a:ln w="12700">
            <a:solidFill>
              <a:srgbClr val="DCE3E8"/>
            </a:solidFill>
            <a:prstDash val="solid"/>
          </a:ln>
        </p:spPr>
        <p:txBody>
          <a:bodyPr/>
          <a:lstStyle/>
          <a:p>
            <a:endParaRPr lang="en-PK"/>
          </a:p>
        </p:txBody>
      </p:sp>
      <p:sp>
        <p:nvSpPr>
          <p:cNvPr id="8" name="Text 6"/>
          <p:cNvSpPr/>
          <p:nvPr/>
        </p:nvSpPr>
        <p:spPr>
          <a:xfrm>
            <a:off x="548640" y="2423160"/>
            <a:ext cx="5394960" cy="502920"/>
          </a:xfrm>
          <a:prstGeom prst="rect">
            <a:avLst/>
          </a:prstGeom>
          <a:noFill/>
          <a:ln/>
        </p:spPr>
        <p:txBody>
          <a:bodyPr wrap="square" rtlCol="0" anchor="ctr"/>
          <a:lstStyle/>
          <a:p>
            <a:pPr marL="0" indent="0" algn="ctr">
              <a:buNone/>
            </a:pPr>
            <a:r>
              <a:rPr lang="en-US" sz="1500" dirty="0">
                <a:latin typeface="Cambria Math" pitchFamily="34" charset="0"/>
                <a:ea typeface="Cambria Math" pitchFamily="34" charset="-122"/>
                <a:cs typeface="Cambria Math" pitchFamily="34" charset="-120"/>
              </a:rPr>
              <a:t>L = λ₁ L_cp + λ₂ L_coef + λ₃ L_emb + λ₄ L_gt</a:t>
            </a:r>
            <a:endParaRPr lang="en-US" sz="1500" dirty="0"/>
          </a:p>
        </p:txBody>
      </p:sp>
      <p:sp>
        <p:nvSpPr>
          <p:cNvPr id="9" name="Text 7"/>
          <p:cNvSpPr/>
          <p:nvPr/>
        </p:nvSpPr>
        <p:spPr>
          <a:xfrm>
            <a:off x="548640" y="3018037"/>
            <a:ext cx="914400" cy="36576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L_cp</a:t>
            </a:r>
            <a:endParaRPr lang="en-US" sz="1200" dirty="0"/>
          </a:p>
        </p:txBody>
      </p:sp>
      <p:sp>
        <p:nvSpPr>
          <p:cNvPr id="10" name="Text 8"/>
          <p:cNvSpPr/>
          <p:nvPr/>
        </p:nvSpPr>
        <p:spPr>
          <a:xfrm>
            <a:off x="1417320" y="3097918"/>
            <a:ext cx="4572000" cy="365760"/>
          </a:xfrm>
          <a:prstGeom prst="rect">
            <a:avLst/>
          </a:prstGeom>
          <a:noFill/>
          <a:ln/>
        </p:spPr>
        <p:txBody>
          <a:bodyPr wrap="square" rtlCol="0" anchor="ctr"/>
          <a:lstStyle/>
          <a:p>
            <a:pPr marL="0" indent="0">
              <a:buNone/>
            </a:pPr>
            <a:r>
              <a:rPr lang="en-US" sz="1150" b="1" dirty="0">
                <a:solidFill>
                  <a:srgbClr val="1B2430"/>
                </a:solidFill>
                <a:latin typeface="Calibri" pitchFamily="34" charset="0"/>
                <a:ea typeface="Calibri" pitchFamily="34" charset="-122"/>
                <a:cs typeface="Calibri" pitchFamily="34" charset="-120"/>
              </a:rPr>
              <a:t>Control Point Loss:</a:t>
            </a:r>
            <a:r>
              <a:rPr lang="en-US" sz="1150" dirty="0">
                <a:solidFill>
                  <a:srgbClr val="1B2430"/>
                </a:solidFill>
                <a:latin typeface="Calibri" pitchFamily="34" charset="0"/>
                <a:ea typeface="Calibri" pitchFamily="34" charset="-122"/>
                <a:cs typeface="Calibri" pitchFamily="34" charset="-120"/>
              </a:rPr>
              <a:t> MSE between the values of actual sensor locations from output and input sensor location values, i.e., the control points</a:t>
            </a:r>
            <a:endParaRPr lang="en-US" sz="1150" dirty="0"/>
          </a:p>
        </p:txBody>
      </p:sp>
      <p:sp>
        <p:nvSpPr>
          <p:cNvPr id="11" name="Text 9"/>
          <p:cNvSpPr/>
          <p:nvPr/>
        </p:nvSpPr>
        <p:spPr>
          <a:xfrm>
            <a:off x="548640" y="3447288"/>
            <a:ext cx="914400" cy="36576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L_coef</a:t>
            </a:r>
            <a:endParaRPr lang="en-US" sz="1200" dirty="0"/>
          </a:p>
        </p:txBody>
      </p:sp>
      <p:sp>
        <p:nvSpPr>
          <p:cNvPr id="12" name="Text 10"/>
          <p:cNvSpPr/>
          <p:nvPr/>
        </p:nvSpPr>
        <p:spPr>
          <a:xfrm>
            <a:off x="1417320" y="3498356"/>
            <a:ext cx="4572000" cy="365760"/>
          </a:xfrm>
          <a:prstGeom prst="rect">
            <a:avLst/>
          </a:prstGeom>
          <a:noFill/>
          <a:ln/>
        </p:spPr>
        <p:txBody>
          <a:bodyPr wrap="square" rtlCol="0" anchor="ctr"/>
          <a:lstStyle/>
          <a:p>
            <a:pPr marL="0" indent="0">
              <a:buNone/>
            </a:pPr>
            <a:r>
              <a:rPr lang="en-US" sz="1150" b="1" dirty="0">
                <a:solidFill>
                  <a:srgbClr val="1B2430"/>
                </a:solidFill>
                <a:latin typeface="Calibri" pitchFamily="34" charset="0"/>
                <a:ea typeface="Calibri" pitchFamily="34" charset="-122"/>
                <a:cs typeface="Calibri" pitchFamily="34" charset="-120"/>
              </a:rPr>
              <a:t>Coefficient Loss: </a:t>
            </a:r>
            <a:r>
              <a:rPr lang="en-US" sz="1150" dirty="0">
                <a:solidFill>
                  <a:srgbClr val="1B2430"/>
                </a:solidFill>
                <a:latin typeface="Calibri" pitchFamily="34" charset="0"/>
                <a:ea typeface="Calibri" pitchFamily="34" charset="-122"/>
                <a:cs typeface="Calibri" pitchFamily="34" charset="-120"/>
              </a:rPr>
              <a:t>MSE between stage 2 coefficients (as prediction) and stage 1 coefficients (as the target)</a:t>
            </a:r>
            <a:endParaRPr lang="en-US" sz="1150" dirty="0"/>
          </a:p>
        </p:txBody>
      </p:sp>
      <p:sp>
        <p:nvSpPr>
          <p:cNvPr id="13" name="Text 11"/>
          <p:cNvSpPr/>
          <p:nvPr/>
        </p:nvSpPr>
        <p:spPr>
          <a:xfrm>
            <a:off x="548640" y="3831336"/>
            <a:ext cx="914400" cy="36576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L_emb</a:t>
            </a:r>
            <a:endParaRPr lang="en-US" sz="1200" dirty="0"/>
          </a:p>
        </p:txBody>
      </p:sp>
      <p:sp>
        <p:nvSpPr>
          <p:cNvPr id="14" name="Text 12"/>
          <p:cNvSpPr/>
          <p:nvPr/>
        </p:nvSpPr>
        <p:spPr>
          <a:xfrm>
            <a:off x="1417320" y="3882404"/>
            <a:ext cx="4572000" cy="365760"/>
          </a:xfrm>
          <a:prstGeom prst="rect">
            <a:avLst/>
          </a:prstGeom>
          <a:noFill/>
          <a:ln/>
        </p:spPr>
        <p:txBody>
          <a:bodyPr wrap="square" rtlCol="0" anchor="ctr"/>
          <a:lstStyle/>
          <a:p>
            <a:pPr marL="0" indent="0">
              <a:buNone/>
            </a:pPr>
            <a:r>
              <a:rPr lang="en-US" sz="1150" b="1" dirty="0">
                <a:solidFill>
                  <a:srgbClr val="1B2430"/>
                </a:solidFill>
                <a:latin typeface="Calibri" pitchFamily="34" charset="0"/>
                <a:ea typeface="Calibri" pitchFamily="34" charset="-122"/>
                <a:cs typeface="Calibri" pitchFamily="34" charset="-120"/>
              </a:rPr>
              <a:t>Embedding Loss: </a:t>
            </a:r>
            <a:r>
              <a:rPr lang="en-US" sz="1150" dirty="0">
                <a:solidFill>
                  <a:srgbClr val="1B2430"/>
                </a:solidFill>
                <a:latin typeface="Calibri" pitchFamily="34" charset="0"/>
                <a:ea typeface="Calibri" pitchFamily="34" charset="-122"/>
                <a:cs typeface="Calibri" pitchFamily="34" charset="-120"/>
              </a:rPr>
              <a:t>MSE between the intermediate embedding output of stage 2 and stage 1</a:t>
            </a:r>
            <a:endParaRPr lang="en-US" sz="1150" dirty="0"/>
          </a:p>
        </p:txBody>
      </p:sp>
      <p:sp>
        <p:nvSpPr>
          <p:cNvPr id="15" name="Text 13"/>
          <p:cNvSpPr/>
          <p:nvPr/>
        </p:nvSpPr>
        <p:spPr>
          <a:xfrm>
            <a:off x="548640" y="4215384"/>
            <a:ext cx="914400" cy="36576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L_gt</a:t>
            </a:r>
            <a:endParaRPr lang="en-US" sz="1200" dirty="0"/>
          </a:p>
        </p:txBody>
      </p:sp>
      <p:sp>
        <p:nvSpPr>
          <p:cNvPr id="16" name="Text 14"/>
          <p:cNvSpPr/>
          <p:nvPr/>
        </p:nvSpPr>
        <p:spPr>
          <a:xfrm>
            <a:off x="1417320" y="4251960"/>
            <a:ext cx="4572000" cy="365760"/>
          </a:xfrm>
          <a:prstGeom prst="rect">
            <a:avLst/>
          </a:prstGeom>
          <a:noFill/>
          <a:ln/>
        </p:spPr>
        <p:txBody>
          <a:bodyPr wrap="square" rtlCol="0" anchor="ctr"/>
          <a:lstStyle/>
          <a:p>
            <a:pPr marL="0" indent="0">
              <a:buNone/>
            </a:pPr>
            <a:r>
              <a:rPr lang="en-US" sz="1150" b="1" dirty="0">
                <a:solidFill>
                  <a:srgbClr val="1B2430"/>
                </a:solidFill>
                <a:latin typeface="Calibri" pitchFamily="34" charset="0"/>
                <a:ea typeface="Calibri" pitchFamily="34" charset="-122"/>
                <a:cs typeface="Calibri" pitchFamily="34" charset="-120"/>
              </a:rPr>
              <a:t>Ground Truth Loss: </a:t>
            </a:r>
            <a:r>
              <a:rPr lang="en-US" sz="1150" dirty="0">
                <a:solidFill>
                  <a:srgbClr val="1B2430"/>
                </a:solidFill>
                <a:latin typeface="Calibri" pitchFamily="34" charset="0"/>
                <a:ea typeface="Calibri" pitchFamily="34" charset="-122"/>
                <a:cs typeface="Calibri" pitchFamily="34" charset="-120"/>
              </a:rPr>
              <a:t>MSE between final full interpolated field and ground field</a:t>
            </a:r>
            <a:endParaRPr lang="en-US" sz="1150" dirty="0"/>
          </a:p>
        </p:txBody>
      </p:sp>
      <p:sp>
        <p:nvSpPr>
          <p:cNvPr id="17" name="Text 15"/>
          <p:cNvSpPr/>
          <p:nvPr/>
        </p:nvSpPr>
        <p:spPr>
          <a:xfrm>
            <a:off x="548640" y="4736592"/>
            <a:ext cx="5394960" cy="274320"/>
          </a:xfrm>
          <a:prstGeom prst="rect">
            <a:avLst/>
          </a:prstGeom>
          <a:noFill/>
          <a:ln/>
        </p:spPr>
        <p:txBody>
          <a:bodyPr wrap="square"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Evaluation metrics</a:t>
            </a:r>
            <a:endParaRPr lang="en-US" sz="1400" dirty="0"/>
          </a:p>
        </p:txBody>
      </p:sp>
      <p:sp>
        <p:nvSpPr>
          <p:cNvPr id="18" name="Text 16"/>
          <p:cNvSpPr/>
          <p:nvPr/>
        </p:nvSpPr>
        <p:spPr>
          <a:xfrm>
            <a:off x="548640" y="5038344"/>
            <a:ext cx="5394960" cy="365760"/>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RMSE, MAE, Bias (K), and R² (%) are computed per region on held-out test frames.</a:t>
            </a:r>
            <a:endParaRPr lang="en-US" sz="1200" dirty="0"/>
          </a:p>
        </p:txBody>
      </p:sp>
      <p:sp>
        <p:nvSpPr>
          <p:cNvPr id="23" name="Text 21"/>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B6673"/>
                </a:solidFill>
                <a:latin typeface="Calibri" pitchFamily="34" charset="0"/>
                <a:ea typeface="Calibri" pitchFamily="34" charset="-122"/>
                <a:cs typeface="Calibri" pitchFamily="34" charset="-120"/>
              </a:rPr>
              <a:t>6</a:t>
            </a:r>
            <a:endParaRPr lang="en-US" sz="1000" dirty="0"/>
          </a:p>
        </p:txBody>
      </p:sp>
      <p:sp>
        <p:nvSpPr>
          <p:cNvPr id="25" name="Text 16">
            <a:extLst>
              <a:ext uri="{FF2B5EF4-FFF2-40B4-BE49-F238E27FC236}">
                <a16:creationId xmlns:a16="http://schemas.microsoft.com/office/drawing/2014/main" id="{260212AA-BF6C-183F-3513-6222F597CC1D}"/>
              </a:ext>
            </a:extLst>
          </p:cNvPr>
          <p:cNvSpPr/>
          <p:nvPr/>
        </p:nvSpPr>
        <p:spPr>
          <a:xfrm>
            <a:off x="548640" y="5431536"/>
            <a:ext cx="5394960" cy="365760"/>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Results and plots are displayed on next slide for South Asia Dataset trained model.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3CB2C75-459A-92F0-13D3-55B7A00E7392}"/>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B92DFBB-27D5-E4EA-C8FB-AF4761A6A0B4}"/>
              </a:ext>
            </a:extLst>
          </p:cNvPr>
          <p:cNvSpPr/>
          <p:nvPr/>
        </p:nvSpPr>
        <p:spPr>
          <a:xfrm>
            <a:off x="548640" y="409422"/>
            <a:ext cx="11064240" cy="640080"/>
          </a:xfrm>
          <a:prstGeom prst="rect">
            <a:avLst/>
          </a:prstGeom>
          <a:noFill/>
          <a:ln/>
        </p:spPr>
        <p:txBody>
          <a:bodyPr wrap="square" rtlCol="0" anchor="ctr"/>
          <a:lstStyle/>
          <a:p>
            <a:pPr marL="0" indent="0" algn="l">
              <a:buNone/>
            </a:pPr>
            <a:r>
              <a:rPr lang="en-US" sz="2400" b="1" dirty="0">
                <a:solidFill>
                  <a:srgbClr val="1B2430"/>
                </a:solidFill>
                <a:latin typeface="Cambria" pitchFamily="34" charset="0"/>
                <a:ea typeface="Cambria" pitchFamily="34" charset="-122"/>
                <a:cs typeface="Cambria" pitchFamily="34" charset="-120"/>
              </a:rPr>
              <a:t>Loss plots and evaluation metrics</a:t>
            </a:r>
            <a:endParaRPr lang="en-US" sz="2400" dirty="0"/>
          </a:p>
        </p:txBody>
      </p:sp>
      <p:sp>
        <p:nvSpPr>
          <p:cNvPr id="23" name="Text 21">
            <a:extLst>
              <a:ext uri="{FF2B5EF4-FFF2-40B4-BE49-F238E27FC236}">
                <a16:creationId xmlns:a16="http://schemas.microsoft.com/office/drawing/2014/main" id="{AE2907F8-8D81-CE09-8237-8282105E0FDF}"/>
              </a:ext>
            </a:extLst>
          </p:cNvPr>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B6673"/>
                </a:solidFill>
                <a:latin typeface="Calibri" pitchFamily="34" charset="0"/>
                <a:ea typeface="Calibri" pitchFamily="34" charset="-122"/>
                <a:cs typeface="Calibri" pitchFamily="34" charset="-120"/>
              </a:rPr>
              <a:t>6</a:t>
            </a:r>
            <a:endParaRPr lang="en-US" sz="1000" dirty="0"/>
          </a:p>
        </p:txBody>
      </p:sp>
      <p:sp>
        <p:nvSpPr>
          <p:cNvPr id="20" name="Text 1">
            <a:extLst>
              <a:ext uri="{FF2B5EF4-FFF2-40B4-BE49-F238E27FC236}">
                <a16:creationId xmlns:a16="http://schemas.microsoft.com/office/drawing/2014/main" id="{F752F2AE-3E0D-D991-49D6-2F7A5D2C8EB8}"/>
              </a:ext>
            </a:extLst>
          </p:cNvPr>
          <p:cNvSpPr/>
          <p:nvPr/>
        </p:nvSpPr>
        <p:spPr>
          <a:xfrm>
            <a:off x="548640" y="1228185"/>
            <a:ext cx="10281537" cy="448502"/>
          </a:xfrm>
          <a:prstGeom prst="rect">
            <a:avLst/>
          </a:prstGeom>
          <a:noFill/>
          <a:ln/>
        </p:spPr>
        <p:txBody>
          <a:bodyPr wrap="square" rtlCol="0" anchor="ctr"/>
          <a:lstStyle/>
          <a:p>
            <a:pPr marL="0" indent="0" algn="l">
              <a:buNone/>
            </a:pPr>
            <a:r>
              <a:rPr lang="en-US" sz="2000" b="1" dirty="0">
                <a:solidFill>
                  <a:srgbClr val="1B2430"/>
                </a:solidFill>
                <a:latin typeface="Cambria" pitchFamily="34" charset="0"/>
                <a:ea typeface="Cambria" pitchFamily="34" charset="-122"/>
                <a:cs typeface="Cambria" pitchFamily="34" charset="-120"/>
              </a:rPr>
              <a:t>Stage 1</a:t>
            </a:r>
            <a:endParaRPr lang="en-US" sz="2000" dirty="0"/>
          </a:p>
        </p:txBody>
      </p:sp>
      <p:pic>
        <p:nvPicPr>
          <p:cNvPr id="22" name="Picture 21">
            <a:extLst>
              <a:ext uri="{FF2B5EF4-FFF2-40B4-BE49-F238E27FC236}">
                <a16:creationId xmlns:a16="http://schemas.microsoft.com/office/drawing/2014/main" id="{EE0CFE8E-AF1C-3790-F182-897807A0203F}"/>
              </a:ext>
            </a:extLst>
          </p:cNvPr>
          <p:cNvPicPr>
            <a:picLocks noChangeAspect="1"/>
          </p:cNvPicPr>
          <p:nvPr/>
        </p:nvPicPr>
        <p:blipFill>
          <a:blip r:embed="rId3"/>
          <a:stretch>
            <a:fillRect/>
          </a:stretch>
        </p:blipFill>
        <p:spPr>
          <a:xfrm>
            <a:off x="548640" y="2397249"/>
            <a:ext cx="3658111" cy="2772162"/>
          </a:xfrm>
          <a:prstGeom prst="rect">
            <a:avLst/>
          </a:prstGeom>
        </p:spPr>
      </p:pic>
      <p:pic>
        <p:nvPicPr>
          <p:cNvPr id="26" name="Picture 25">
            <a:extLst>
              <a:ext uri="{FF2B5EF4-FFF2-40B4-BE49-F238E27FC236}">
                <a16:creationId xmlns:a16="http://schemas.microsoft.com/office/drawing/2014/main" id="{F5D00B76-7F76-51F6-05F4-B24CA54E16C6}"/>
              </a:ext>
            </a:extLst>
          </p:cNvPr>
          <p:cNvPicPr>
            <a:picLocks noChangeAspect="1"/>
          </p:cNvPicPr>
          <p:nvPr/>
        </p:nvPicPr>
        <p:blipFill>
          <a:blip r:embed="rId4"/>
          <a:stretch>
            <a:fillRect/>
          </a:stretch>
        </p:blipFill>
        <p:spPr>
          <a:xfrm>
            <a:off x="4632385" y="1585552"/>
            <a:ext cx="6630030" cy="4395555"/>
          </a:xfrm>
          <a:prstGeom prst="rect">
            <a:avLst/>
          </a:prstGeom>
        </p:spPr>
      </p:pic>
    </p:spTree>
    <p:extLst>
      <p:ext uri="{BB962C8B-B14F-4D97-AF65-F5344CB8AC3E}">
        <p14:creationId xmlns:p14="http://schemas.microsoft.com/office/powerpoint/2010/main" val="3914302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898B5F7-30D3-20C3-AD7B-DFADB10E3AF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C077D6D-8E58-AA14-5952-9DE575640568}"/>
              </a:ext>
            </a:extLst>
          </p:cNvPr>
          <p:cNvSpPr/>
          <p:nvPr/>
        </p:nvSpPr>
        <p:spPr>
          <a:xfrm>
            <a:off x="548640" y="352950"/>
            <a:ext cx="11064240" cy="640080"/>
          </a:xfrm>
          <a:prstGeom prst="rect">
            <a:avLst/>
          </a:prstGeom>
          <a:noFill/>
          <a:ln/>
        </p:spPr>
        <p:txBody>
          <a:bodyPr wrap="square" rtlCol="0" anchor="ctr"/>
          <a:lstStyle/>
          <a:p>
            <a:pPr marL="0" indent="0" algn="l">
              <a:buNone/>
            </a:pPr>
            <a:r>
              <a:rPr lang="en-US" sz="2400" b="1" dirty="0">
                <a:solidFill>
                  <a:srgbClr val="1B2430"/>
                </a:solidFill>
                <a:latin typeface="Cambria" pitchFamily="34" charset="0"/>
                <a:ea typeface="Cambria" pitchFamily="34" charset="-122"/>
                <a:cs typeface="Cambria" pitchFamily="34" charset="-120"/>
              </a:rPr>
              <a:t>Loss plots and evaluation metrics</a:t>
            </a:r>
            <a:endParaRPr lang="en-US" sz="2400" dirty="0"/>
          </a:p>
        </p:txBody>
      </p:sp>
      <p:sp>
        <p:nvSpPr>
          <p:cNvPr id="23" name="Text 21">
            <a:extLst>
              <a:ext uri="{FF2B5EF4-FFF2-40B4-BE49-F238E27FC236}">
                <a16:creationId xmlns:a16="http://schemas.microsoft.com/office/drawing/2014/main" id="{33060AE7-A5A0-0796-B241-3302CE404F00}"/>
              </a:ext>
            </a:extLst>
          </p:cNvPr>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B6673"/>
                </a:solidFill>
                <a:latin typeface="Calibri" pitchFamily="34" charset="0"/>
                <a:ea typeface="Calibri" pitchFamily="34" charset="-122"/>
                <a:cs typeface="Calibri" pitchFamily="34" charset="-120"/>
              </a:rPr>
              <a:t>6</a:t>
            </a:r>
            <a:endParaRPr lang="en-US" sz="1000" dirty="0"/>
          </a:p>
        </p:txBody>
      </p:sp>
      <p:sp>
        <p:nvSpPr>
          <p:cNvPr id="20" name="Text 1">
            <a:extLst>
              <a:ext uri="{FF2B5EF4-FFF2-40B4-BE49-F238E27FC236}">
                <a16:creationId xmlns:a16="http://schemas.microsoft.com/office/drawing/2014/main" id="{A3C19F13-B543-EDE1-EF61-CA4F44DF0515}"/>
              </a:ext>
            </a:extLst>
          </p:cNvPr>
          <p:cNvSpPr/>
          <p:nvPr/>
        </p:nvSpPr>
        <p:spPr>
          <a:xfrm>
            <a:off x="548640" y="1228185"/>
            <a:ext cx="10281537" cy="448502"/>
          </a:xfrm>
          <a:prstGeom prst="rect">
            <a:avLst/>
          </a:prstGeom>
          <a:noFill/>
          <a:ln/>
        </p:spPr>
        <p:txBody>
          <a:bodyPr wrap="square" rtlCol="0" anchor="ctr"/>
          <a:lstStyle/>
          <a:p>
            <a:pPr marL="0" indent="0" algn="l">
              <a:buNone/>
            </a:pPr>
            <a:r>
              <a:rPr lang="en-US" sz="2000" b="1" dirty="0">
                <a:solidFill>
                  <a:srgbClr val="1B2430"/>
                </a:solidFill>
                <a:latin typeface="Cambria" pitchFamily="34" charset="0"/>
                <a:ea typeface="Cambria" pitchFamily="34" charset="-122"/>
                <a:cs typeface="Cambria" pitchFamily="34" charset="-120"/>
              </a:rPr>
              <a:t>Stage 2</a:t>
            </a:r>
            <a:endParaRPr lang="en-US" sz="2000" dirty="0"/>
          </a:p>
        </p:txBody>
      </p:sp>
      <p:pic>
        <p:nvPicPr>
          <p:cNvPr id="5" name="Picture 4">
            <a:extLst>
              <a:ext uri="{FF2B5EF4-FFF2-40B4-BE49-F238E27FC236}">
                <a16:creationId xmlns:a16="http://schemas.microsoft.com/office/drawing/2014/main" id="{D6373261-8E9B-74D9-27DF-F1090B3A7EA4}"/>
              </a:ext>
            </a:extLst>
          </p:cNvPr>
          <p:cNvPicPr>
            <a:picLocks noChangeAspect="1"/>
          </p:cNvPicPr>
          <p:nvPr/>
        </p:nvPicPr>
        <p:blipFill>
          <a:blip r:embed="rId3"/>
          <a:stretch>
            <a:fillRect/>
          </a:stretch>
        </p:blipFill>
        <p:spPr>
          <a:xfrm>
            <a:off x="443116" y="1808600"/>
            <a:ext cx="2834922" cy="2275600"/>
          </a:xfrm>
          <a:prstGeom prst="rect">
            <a:avLst/>
          </a:prstGeom>
        </p:spPr>
      </p:pic>
      <p:pic>
        <p:nvPicPr>
          <p:cNvPr id="11" name="Picture 10">
            <a:extLst>
              <a:ext uri="{FF2B5EF4-FFF2-40B4-BE49-F238E27FC236}">
                <a16:creationId xmlns:a16="http://schemas.microsoft.com/office/drawing/2014/main" id="{64BDE829-2388-D83D-9376-40C5CD4C26AE}"/>
              </a:ext>
            </a:extLst>
          </p:cNvPr>
          <p:cNvPicPr>
            <a:picLocks noChangeAspect="1"/>
          </p:cNvPicPr>
          <p:nvPr/>
        </p:nvPicPr>
        <p:blipFill>
          <a:blip r:embed="rId4"/>
          <a:stretch>
            <a:fillRect/>
          </a:stretch>
        </p:blipFill>
        <p:spPr>
          <a:xfrm>
            <a:off x="179351" y="4369417"/>
            <a:ext cx="7321476" cy="2351423"/>
          </a:xfrm>
          <a:prstGeom prst="rect">
            <a:avLst/>
          </a:prstGeom>
        </p:spPr>
      </p:pic>
      <p:pic>
        <p:nvPicPr>
          <p:cNvPr id="13" name="Picture 12">
            <a:extLst>
              <a:ext uri="{FF2B5EF4-FFF2-40B4-BE49-F238E27FC236}">
                <a16:creationId xmlns:a16="http://schemas.microsoft.com/office/drawing/2014/main" id="{EED973C7-7090-3AFD-E275-8B0ECF2FB6AE}"/>
              </a:ext>
            </a:extLst>
          </p:cNvPr>
          <p:cNvPicPr>
            <a:picLocks noChangeAspect="1"/>
          </p:cNvPicPr>
          <p:nvPr/>
        </p:nvPicPr>
        <p:blipFill>
          <a:blip r:embed="rId5"/>
          <a:stretch>
            <a:fillRect/>
          </a:stretch>
        </p:blipFill>
        <p:spPr>
          <a:xfrm>
            <a:off x="3367260" y="1052321"/>
            <a:ext cx="4870278" cy="3238913"/>
          </a:xfrm>
          <a:prstGeom prst="rect">
            <a:avLst/>
          </a:prstGeom>
        </p:spPr>
      </p:pic>
      <p:pic>
        <p:nvPicPr>
          <p:cNvPr id="15" name="Picture 14">
            <a:extLst>
              <a:ext uri="{FF2B5EF4-FFF2-40B4-BE49-F238E27FC236}">
                <a16:creationId xmlns:a16="http://schemas.microsoft.com/office/drawing/2014/main" id="{B6742EFA-A4A9-E8BA-2887-D6603DE7BD06}"/>
              </a:ext>
            </a:extLst>
          </p:cNvPr>
          <p:cNvPicPr>
            <a:picLocks noChangeAspect="1"/>
          </p:cNvPicPr>
          <p:nvPr/>
        </p:nvPicPr>
        <p:blipFill>
          <a:blip r:embed="rId6"/>
          <a:stretch>
            <a:fillRect/>
          </a:stretch>
        </p:blipFill>
        <p:spPr>
          <a:xfrm>
            <a:off x="8432714" y="1032121"/>
            <a:ext cx="3454486" cy="2275110"/>
          </a:xfrm>
          <a:prstGeom prst="rect">
            <a:avLst/>
          </a:prstGeom>
        </p:spPr>
      </p:pic>
      <p:pic>
        <p:nvPicPr>
          <p:cNvPr id="17" name="Picture 16">
            <a:extLst>
              <a:ext uri="{FF2B5EF4-FFF2-40B4-BE49-F238E27FC236}">
                <a16:creationId xmlns:a16="http://schemas.microsoft.com/office/drawing/2014/main" id="{E2DD4CC7-67AD-EA26-7D47-744383775EB5}"/>
              </a:ext>
            </a:extLst>
          </p:cNvPr>
          <p:cNvPicPr>
            <a:picLocks noChangeAspect="1"/>
          </p:cNvPicPr>
          <p:nvPr/>
        </p:nvPicPr>
        <p:blipFill>
          <a:blip r:embed="rId7"/>
          <a:stretch>
            <a:fillRect/>
          </a:stretch>
        </p:blipFill>
        <p:spPr>
          <a:xfrm>
            <a:off x="8504974" y="3429000"/>
            <a:ext cx="3199346" cy="2167299"/>
          </a:xfrm>
          <a:prstGeom prst="rect">
            <a:avLst/>
          </a:prstGeom>
        </p:spPr>
      </p:pic>
    </p:spTree>
    <p:extLst>
      <p:ext uri="{BB962C8B-B14F-4D97-AF65-F5344CB8AC3E}">
        <p14:creationId xmlns:p14="http://schemas.microsoft.com/office/powerpoint/2010/main" val="1086782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69921"/>
            <a:ext cx="11064240" cy="274320"/>
          </a:xfrm>
          <a:prstGeom prst="rect">
            <a:avLst/>
          </a:prstGeom>
          <a:noFill/>
          <a:ln/>
        </p:spPr>
        <p:txBody>
          <a:bodyPr wrap="square"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EVALUATION</a:t>
            </a:r>
            <a:endParaRPr lang="en-US" sz="1100" dirty="0"/>
          </a:p>
        </p:txBody>
      </p:sp>
      <p:sp>
        <p:nvSpPr>
          <p:cNvPr id="3" name="Text 1"/>
          <p:cNvSpPr/>
          <p:nvPr/>
        </p:nvSpPr>
        <p:spPr>
          <a:xfrm>
            <a:off x="457200" y="568394"/>
            <a:ext cx="11064240" cy="640080"/>
          </a:xfrm>
          <a:prstGeom prst="rect">
            <a:avLst/>
          </a:prstGeom>
          <a:noFill/>
          <a:ln/>
        </p:spPr>
        <p:txBody>
          <a:bodyPr wrap="square" rtlCol="0" anchor="ctr"/>
          <a:lstStyle/>
          <a:p>
            <a:pPr marL="0" indent="0" algn="l">
              <a:buNone/>
            </a:pPr>
            <a:r>
              <a:rPr lang="en-US" sz="2800" b="1" dirty="0">
                <a:solidFill>
                  <a:srgbClr val="1B2430"/>
                </a:solidFill>
                <a:latin typeface="Cambria" pitchFamily="34" charset="0"/>
                <a:ea typeface="Cambria" pitchFamily="34" charset="-122"/>
                <a:cs typeface="Cambria" pitchFamily="34" charset="-120"/>
              </a:rPr>
              <a:t>Inference</a:t>
            </a:r>
            <a:endParaRPr lang="en-US" sz="2800" dirty="0"/>
          </a:p>
        </p:txBody>
      </p:sp>
      <p:sp>
        <p:nvSpPr>
          <p:cNvPr id="4" name="Text 2"/>
          <p:cNvSpPr/>
          <p:nvPr/>
        </p:nvSpPr>
        <p:spPr>
          <a:xfrm>
            <a:off x="457200" y="1139464"/>
            <a:ext cx="10972800" cy="502920"/>
          </a:xfrm>
          <a:prstGeom prst="rect">
            <a:avLst/>
          </a:prstGeom>
          <a:noFill/>
          <a:ln/>
        </p:spPr>
        <p:txBody>
          <a:bodyPr wrap="square" rtlCol="0" anchor="ctr"/>
          <a:lstStyle/>
          <a:p>
            <a:pPr marL="0" indent="0">
              <a:lnSpc>
                <a:spcPct val="120000"/>
              </a:lnSpc>
              <a:buNone/>
            </a:pPr>
            <a:r>
              <a:rPr lang="en-US" sz="1200" dirty="0">
                <a:latin typeface="Calibri" pitchFamily="34" charset="0"/>
                <a:ea typeface="Calibri" pitchFamily="34" charset="-122"/>
                <a:cs typeface="Calibri" pitchFamily="34" charset="-120"/>
              </a:rPr>
              <a:t>Each of the three trained models is run at 4× super-resolution against the held-out test data of all three regions 9 model × region combinations in total.</a:t>
            </a:r>
            <a:endParaRPr lang="en-US" sz="1200" dirty="0"/>
          </a:p>
        </p:txBody>
      </p:sp>
      <p:sp>
        <p:nvSpPr>
          <p:cNvPr id="5" name="Text 3"/>
          <p:cNvSpPr/>
          <p:nvPr/>
        </p:nvSpPr>
        <p:spPr>
          <a:xfrm>
            <a:off x="457200" y="1691640"/>
            <a:ext cx="2743200" cy="274320"/>
          </a:xfrm>
          <a:prstGeom prst="rect">
            <a:avLst/>
          </a:prstGeom>
          <a:noFill/>
          <a:ln/>
        </p:spPr>
        <p:txBody>
          <a:bodyPr wrap="square" rtlCol="0" anchor="ctr"/>
          <a:lstStyle/>
          <a:p>
            <a:pPr marL="0" indent="0">
              <a:buNone/>
            </a:pPr>
            <a:r>
              <a:rPr lang="en-US" sz="1050" dirty="0">
                <a:latin typeface="Calibri" pitchFamily="34" charset="0"/>
                <a:ea typeface="Calibri" pitchFamily="34" charset="-122"/>
                <a:cs typeface="Calibri" pitchFamily="34" charset="-120"/>
              </a:rPr>
              <a:t>Trained on ↓ / Evaluated on →</a:t>
            </a:r>
            <a:endParaRPr lang="en-US" sz="1050" dirty="0"/>
          </a:p>
        </p:txBody>
      </p:sp>
      <p:sp>
        <p:nvSpPr>
          <p:cNvPr id="6" name="Text 4"/>
          <p:cNvSpPr/>
          <p:nvPr/>
        </p:nvSpPr>
        <p:spPr>
          <a:xfrm>
            <a:off x="3108960" y="1691640"/>
            <a:ext cx="2606040" cy="365760"/>
          </a:xfrm>
          <a:prstGeom prst="rect">
            <a:avLst/>
          </a:prstGeom>
          <a:solidFill>
            <a:srgbClr val="065A82"/>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South Asia</a:t>
            </a:r>
            <a:endParaRPr lang="en-US" sz="1200" dirty="0"/>
          </a:p>
        </p:txBody>
      </p:sp>
      <p:sp>
        <p:nvSpPr>
          <p:cNvPr id="7" name="Text 5"/>
          <p:cNvSpPr/>
          <p:nvPr/>
        </p:nvSpPr>
        <p:spPr>
          <a:xfrm>
            <a:off x="5715000" y="1691640"/>
            <a:ext cx="2606040" cy="365760"/>
          </a:xfrm>
          <a:prstGeom prst="rect">
            <a:avLst/>
          </a:prstGeom>
          <a:solidFill>
            <a:srgbClr val="065A82"/>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Punjab</a:t>
            </a:r>
            <a:endParaRPr lang="en-US" sz="1200" dirty="0"/>
          </a:p>
        </p:txBody>
      </p:sp>
      <p:sp>
        <p:nvSpPr>
          <p:cNvPr id="8" name="Text 6"/>
          <p:cNvSpPr/>
          <p:nvPr/>
        </p:nvSpPr>
        <p:spPr>
          <a:xfrm>
            <a:off x="8321040" y="1691640"/>
            <a:ext cx="2606040" cy="365760"/>
          </a:xfrm>
          <a:prstGeom prst="rect">
            <a:avLst/>
          </a:prstGeom>
          <a:solidFill>
            <a:srgbClr val="065A82"/>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Karnataka</a:t>
            </a:r>
            <a:endParaRPr lang="en-US" sz="1200" dirty="0"/>
          </a:p>
        </p:txBody>
      </p:sp>
      <p:sp>
        <p:nvSpPr>
          <p:cNvPr id="9" name="Text 7"/>
          <p:cNvSpPr/>
          <p:nvPr/>
        </p:nvSpPr>
        <p:spPr>
          <a:xfrm>
            <a:off x="457200" y="2148840"/>
            <a:ext cx="2331720" cy="640080"/>
          </a:xfrm>
          <a:prstGeom prst="rect">
            <a:avLst/>
          </a:prstGeom>
          <a:solidFill>
            <a:srgbClr val="21295C"/>
          </a:solid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South Asia model</a:t>
            </a:r>
            <a:endParaRPr lang="en-US" sz="1150" dirty="0"/>
          </a:p>
        </p:txBody>
      </p:sp>
      <p:sp>
        <p:nvSpPr>
          <p:cNvPr id="10" name="Shape 8"/>
          <p:cNvSpPr/>
          <p:nvPr/>
        </p:nvSpPr>
        <p:spPr>
          <a:xfrm>
            <a:off x="3108960" y="2148840"/>
            <a:ext cx="2560320" cy="640080"/>
          </a:xfrm>
          <a:prstGeom prst="rect">
            <a:avLst/>
          </a:prstGeom>
          <a:solidFill>
            <a:srgbClr val="DCEEF4"/>
          </a:solidFill>
          <a:ln w="12700">
            <a:solidFill>
              <a:srgbClr val="1C7293"/>
            </a:solidFill>
            <a:prstDash val="solid"/>
          </a:ln>
        </p:spPr>
        <p:txBody>
          <a:bodyPr/>
          <a:lstStyle/>
          <a:p>
            <a:endParaRPr lang="en-PK"/>
          </a:p>
        </p:txBody>
      </p:sp>
      <p:sp>
        <p:nvSpPr>
          <p:cNvPr id="11" name="Text 9"/>
          <p:cNvSpPr/>
          <p:nvPr/>
        </p:nvSpPr>
        <p:spPr>
          <a:xfrm>
            <a:off x="3108960" y="2148840"/>
            <a:ext cx="2560320" cy="640080"/>
          </a:xfrm>
          <a:prstGeom prst="rect">
            <a:avLst/>
          </a:prstGeom>
          <a:noFill/>
          <a:ln/>
        </p:spPr>
        <p:txBody>
          <a:bodyPr wrap="square" rtlCol="0" anchor="ctr"/>
          <a:lstStyle/>
          <a:p>
            <a:pPr marL="0" indent="0" algn="ctr">
              <a:buNone/>
            </a:pPr>
            <a:r>
              <a:rPr lang="en-US" sz="1150" dirty="0">
                <a:solidFill>
                  <a:srgbClr val="065A82"/>
                </a:solidFill>
                <a:latin typeface="Calibri" pitchFamily="34" charset="0"/>
                <a:ea typeface="Calibri" pitchFamily="34" charset="-122"/>
                <a:cs typeface="Calibri" pitchFamily="34" charset="-120"/>
              </a:rPr>
              <a:t>in-domain</a:t>
            </a:r>
            <a:endParaRPr lang="en-US" sz="1150" dirty="0"/>
          </a:p>
        </p:txBody>
      </p:sp>
      <p:sp>
        <p:nvSpPr>
          <p:cNvPr id="12" name="Shape 10"/>
          <p:cNvSpPr/>
          <p:nvPr/>
        </p:nvSpPr>
        <p:spPr>
          <a:xfrm>
            <a:off x="5715000" y="2148840"/>
            <a:ext cx="2560320" cy="640080"/>
          </a:xfrm>
          <a:prstGeom prst="rect">
            <a:avLst/>
          </a:prstGeom>
          <a:solidFill>
            <a:srgbClr val="FBEAE4"/>
          </a:solidFill>
          <a:ln w="12700">
            <a:solidFill>
              <a:srgbClr val="C1502E"/>
            </a:solidFill>
            <a:prstDash val="solid"/>
          </a:ln>
        </p:spPr>
        <p:txBody>
          <a:bodyPr/>
          <a:lstStyle/>
          <a:p>
            <a:endParaRPr lang="en-PK"/>
          </a:p>
        </p:txBody>
      </p:sp>
      <p:sp>
        <p:nvSpPr>
          <p:cNvPr id="13" name="Text 11"/>
          <p:cNvSpPr/>
          <p:nvPr/>
        </p:nvSpPr>
        <p:spPr>
          <a:xfrm>
            <a:off x="5715000" y="2148840"/>
            <a:ext cx="2560320" cy="640080"/>
          </a:xfrm>
          <a:prstGeom prst="rect">
            <a:avLst/>
          </a:prstGeom>
          <a:noFill/>
          <a:ln/>
        </p:spPr>
        <p:txBody>
          <a:bodyPr wrap="square" rtlCol="0" anchor="ctr"/>
          <a:lstStyle/>
          <a:p>
            <a:pPr marL="0" indent="0" algn="ctr">
              <a:buNone/>
            </a:pPr>
            <a:r>
              <a:rPr lang="en-US" sz="1150" dirty="0">
                <a:solidFill>
                  <a:srgbClr val="8A3A22"/>
                </a:solidFill>
                <a:latin typeface="Calibri" pitchFamily="34" charset="0"/>
                <a:ea typeface="Calibri" pitchFamily="34" charset="-122"/>
                <a:cs typeface="Calibri" pitchFamily="34" charset="-120"/>
              </a:rPr>
              <a:t>cross-region</a:t>
            </a:r>
            <a:endParaRPr lang="en-US" sz="1150" dirty="0"/>
          </a:p>
        </p:txBody>
      </p:sp>
      <p:sp>
        <p:nvSpPr>
          <p:cNvPr id="14" name="Shape 12"/>
          <p:cNvSpPr/>
          <p:nvPr/>
        </p:nvSpPr>
        <p:spPr>
          <a:xfrm>
            <a:off x="8321040" y="2148840"/>
            <a:ext cx="2560320" cy="640080"/>
          </a:xfrm>
          <a:prstGeom prst="rect">
            <a:avLst/>
          </a:prstGeom>
          <a:solidFill>
            <a:srgbClr val="FBEAE4"/>
          </a:solidFill>
          <a:ln w="12700">
            <a:solidFill>
              <a:srgbClr val="C1502E"/>
            </a:solidFill>
            <a:prstDash val="solid"/>
          </a:ln>
        </p:spPr>
        <p:txBody>
          <a:bodyPr/>
          <a:lstStyle/>
          <a:p>
            <a:endParaRPr lang="en-PK"/>
          </a:p>
        </p:txBody>
      </p:sp>
      <p:sp>
        <p:nvSpPr>
          <p:cNvPr id="15" name="Text 13"/>
          <p:cNvSpPr/>
          <p:nvPr/>
        </p:nvSpPr>
        <p:spPr>
          <a:xfrm>
            <a:off x="8321040" y="2148840"/>
            <a:ext cx="2560320" cy="640080"/>
          </a:xfrm>
          <a:prstGeom prst="rect">
            <a:avLst/>
          </a:prstGeom>
          <a:noFill/>
          <a:ln/>
        </p:spPr>
        <p:txBody>
          <a:bodyPr wrap="square" rtlCol="0" anchor="ctr"/>
          <a:lstStyle/>
          <a:p>
            <a:pPr marL="0" indent="0" algn="ctr">
              <a:buNone/>
            </a:pPr>
            <a:r>
              <a:rPr lang="en-US" sz="1150" dirty="0">
                <a:solidFill>
                  <a:srgbClr val="8A3A22"/>
                </a:solidFill>
                <a:latin typeface="Calibri" pitchFamily="34" charset="0"/>
                <a:ea typeface="Calibri" pitchFamily="34" charset="-122"/>
                <a:cs typeface="Calibri" pitchFamily="34" charset="-120"/>
              </a:rPr>
              <a:t>cross-region</a:t>
            </a:r>
            <a:endParaRPr lang="en-US" sz="1150" dirty="0"/>
          </a:p>
        </p:txBody>
      </p:sp>
      <p:sp>
        <p:nvSpPr>
          <p:cNvPr id="16" name="Text 14"/>
          <p:cNvSpPr/>
          <p:nvPr/>
        </p:nvSpPr>
        <p:spPr>
          <a:xfrm>
            <a:off x="457200" y="2834640"/>
            <a:ext cx="2331720" cy="640080"/>
          </a:xfrm>
          <a:prstGeom prst="rect">
            <a:avLst/>
          </a:prstGeom>
          <a:solidFill>
            <a:srgbClr val="21295C"/>
          </a:solid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Punjab model</a:t>
            </a:r>
            <a:endParaRPr lang="en-US" sz="1150" dirty="0"/>
          </a:p>
        </p:txBody>
      </p:sp>
      <p:sp>
        <p:nvSpPr>
          <p:cNvPr id="17" name="Shape 15"/>
          <p:cNvSpPr/>
          <p:nvPr/>
        </p:nvSpPr>
        <p:spPr>
          <a:xfrm>
            <a:off x="3108960" y="2834640"/>
            <a:ext cx="2560320" cy="640080"/>
          </a:xfrm>
          <a:prstGeom prst="rect">
            <a:avLst/>
          </a:prstGeom>
          <a:solidFill>
            <a:srgbClr val="FBEAE4"/>
          </a:solidFill>
          <a:ln w="12700">
            <a:solidFill>
              <a:srgbClr val="C1502E"/>
            </a:solidFill>
            <a:prstDash val="solid"/>
          </a:ln>
        </p:spPr>
        <p:txBody>
          <a:bodyPr/>
          <a:lstStyle/>
          <a:p>
            <a:endParaRPr lang="en-PK"/>
          </a:p>
        </p:txBody>
      </p:sp>
      <p:sp>
        <p:nvSpPr>
          <p:cNvPr id="18" name="Text 16"/>
          <p:cNvSpPr/>
          <p:nvPr/>
        </p:nvSpPr>
        <p:spPr>
          <a:xfrm>
            <a:off x="3108960" y="2834640"/>
            <a:ext cx="2560320" cy="640080"/>
          </a:xfrm>
          <a:prstGeom prst="rect">
            <a:avLst/>
          </a:prstGeom>
          <a:noFill/>
          <a:ln/>
        </p:spPr>
        <p:txBody>
          <a:bodyPr wrap="square" rtlCol="0" anchor="ctr"/>
          <a:lstStyle/>
          <a:p>
            <a:pPr marL="0" indent="0" algn="ctr">
              <a:buNone/>
            </a:pPr>
            <a:r>
              <a:rPr lang="en-US" sz="1150" dirty="0">
                <a:solidFill>
                  <a:srgbClr val="8A3A22"/>
                </a:solidFill>
                <a:latin typeface="Calibri" pitchFamily="34" charset="0"/>
                <a:ea typeface="Calibri" pitchFamily="34" charset="-122"/>
                <a:cs typeface="Calibri" pitchFamily="34" charset="-120"/>
              </a:rPr>
              <a:t>cross-region</a:t>
            </a:r>
            <a:endParaRPr lang="en-US" sz="1150" dirty="0"/>
          </a:p>
        </p:txBody>
      </p:sp>
      <p:sp>
        <p:nvSpPr>
          <p:cNvPr id="19" name="Shape 17"/>
          <p:cNvSpPr/>
          <p:nvPr/>
        </p:nvSpPr>
        <p:spPr>
          <a:xfrm>
            <a:off x="5715000" y="2834640"/>
            <a:ext cx="2560320" cy="640080"/>
          </a:xfrm>
          <a:prstGeom prst="rect">
            <a:avLst/>
          </a:prstGeom>
          <a:solidFill>
            <a:srgbClr val="DCEEF4"/>
          </a:solidFill>
          <a:ln w="12700">
            <a:solidFill>
              <a:srgbClr val="1C7293"/>
            </a:solidFill>
            <a:prstDash val="solid"/>
          </a:ln>
        </p:spPr>
        <p:txBody>
          <a:bodyPr/>
          <a:lstStyle/>
          <a:p>
            <a:endParaRPr lang="en-PK"/>
          </a:p>
        </p:txBody>
      </p:sp>
      <p:sp>
        <p:nvSpPr>
          <p:cNvPr id="20" name="Text 18"/>
          <p:cNvSpPr/>
          <p:nvPr/>
        </p:nvSpPr>
        <p:spPr>
          <a:xfrm>
            <a:off x="5715000" y="2834640"/>
            <a:ext cx="2560320" cy="640080"/>
          </a:xfrm>
          <a:prstGeom prst="rect">
            <a:avLst/>
          </a:prstGeom>
          <a:noFill/>
          <a:ln/>
        </p:spPr>
        <p:txBody>
          <a:bodyPr wrap="square" rtlCol="0" anchor="ctr"/>
          <a:lstStyle/>
          <a:p>
            <a:pPr marL="0" indent="0" algn="ctr">
              <a:buNone/>
            </a:pPr>
            <a:r>
              <a:rPr lang="en-US" sz="1150" dirty="0">
                <a:solidFill>
                  <a:srgbClr val="065A82"/>
                </a:solidFill>
                <a:latin typeface="Calibri" pitchFamily="34" charset="0"/>
                <a:ea typeface="Calibri" pitchFamily="34" charset="-122"/>
                <a:cs typeface="Calibri" pitchFamily="34" charset="-120"/>
              </a:rPr>
              <a:t>in-domain</a:t>
            </a:r>
            <a:endParaRPr lang="en-US" sz="1150" dirty="0"/>
          </a:p>
        </p:txBody>
      </p:sp>
      <p:sp>
        <p:nvSpPr>
          <p:cNvPr id="21" name="Shape 19"/>
          <p:cNvSpPr/>
          <p:nvPr/>
        </p:nvSpPr>
        <p:spPr>
          <a:xfrm>
            <a:off x="8321040" y="2834640"/>
            <a:ext cx="2560320" cy="640080"/>
          </a:xfrm>
          <a:prstGeom prst="rect">
            <a:avLst/>
          </a:prstGeom>
          <a:solidFill>
            <a:srgbClr val="FBEAE4"/>
          </a:solidFill>
          <a:ln w="12700">
            <a:solidFill>
              <a:srgbClr val="C1502E"/>
            </a:solidFill>
            <a:prstDash val="solid"/>
          </a:ln>
        </p:spPr>
        <p:txBody>
          <a:bodyPr/>
          <a:lstStyle/>
          <a:p>
            <a:endParaRPr lang="en-PK"/>
          </a:p>
        </p:txBody>
      </p:sp>
      <p:sp>
        <p:nvSpPr>
          <p:cNvPr id="22" name="Text 20"/>
          <p:cNvSpPr/>
          <p:nvPr/>
        </p:nvSpPr>
        <p:spPr>
          <a:xfrm>
            <a:off x="8321040" y="2834640"/>
            <a:ext cx="2560320" cy="640080"/>
          </a:xfrm>
          <a:prstGeom prst="rect">
            <a:avLst/>
          </a:prstGeom>
          <a:noFill/>
          <a:ln/>
        </p:spPr>
        <p:txBody>
          <a:bodyPr wrap="square" rtlCol="0" anchor="ctr"/>
          <a:lstStyle/>
          <a:p>
            <a:pPr marL="0" indent="0" algn="ctr">
              <a:buNone/>
            </a:pPr>
            <a:r>
              <a:rPr lang="en-US" sz="1150" dirty="0">
                <a:solidFill>
                  <a:srgbClr val="8A3A22"/>
                </a:solidFill>
                <a:latin typeface="Calibri" pitchFamily="34" charset="0"/>
                <a:ea typeface="Calibri" pitchFamily="34" charset="-122"/>
                <a:cs typeface="Calibri" pitchFamily="34" charset="-120"/>
              </a:rPr>
              <a:t>cross-region</a:t>
            </a:r>
            <a:endParaRPr lang="en-US" sz="1150" dirty="0"/>
          </a:p>
        </p:txBody>
      </p:sp>
      <p:sp>
        <p:nvSpPr>
          <p:cNvPr id="23" name="Text 21"/>
          <p:cNvSpPr/>
          <p:nvPr/>
        </p:nvSpPr>
        <p:spPr>
          <a:xfrm>
            <a:off x="457200" y="3520440"/>
            <a:ext cx="2331720" cy="640080"/>
          </a:xfrm>
          <a:prstGeom prst="rect">
            <a:avLst/>
          </a:prstGeom>
          <a:solidFill>
            <a:srgbClr val="21295C"/>
          </a:solid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Karnataka model</a:t>
            </a:r>
            <a:endParaRPr lang="en-US" sz="1150" dirty="0"/>
          </a:p>
        </p:txBody>
      </p:sp>
      <p:sp>
        <p:nvSpPr>
          <p:cNvPr id="24" name="Shape 22"/>
          <p:cNvSpPr/>
          <p:nvPr/>
        </p:nvSpPr>
        <p:spPr>
          <a:xfrm>
            <a:off x="3108960" y="3520440"/>
            <a:ext cx="2560320" cy="640080"/>
          </a:xfrm>
          <a:prstGeom prst="rect">
            <a:avLst/>
          </a:prstGeom>
          <a:solidFill>
            <a:srgbClr val="FBEAE4"/>
          </a:solidFill>
          <a:ln w="12700">
            <a:solidFill>
              <a:srgbClr val="C1502E"/>
            </a:solidFill>
            <a:prstDash val="solid"/>
          </a:ln>
        </p:spPr>
        <p:txBody>
          <a:bodyPr/>
          <a:lstStyle/>
          <a:p>
            <a:endParaRPr lang="en-PK"/>
          </a:p>
        </p:txBody>
      </p:sp>
      <p:sp>
        <p:nvSpPr>
          <p:cNvPr id="25" name="Text 23"/>
          <p:cNvSpPr/>
          <p:nvPr/>
        </p:nvSpPr>
        <p:spPr>
          <a:xfrm>
            <a:off x="3108960" y="3520440"/>
            <a:ext cx="2560320" cy="640080"/>
          </a:xfrm>
          <a:prstGeom prst="rect">
            <a:avLst/>
          </a:prstGeom>
          <a:noFill/>
          <a:ln/>
        </p:spPr>
        <p:txBody>
          <a:bodyPr wrap="square" rtlCol="0" anchor="ctr"/>
          <a:lstStyle/>
          <a:p>
            <a:pPr marL="0" indent="0" algn="ctr">
              <a:buNone/>
            </a:pPr>
            <a:r>
              <a:rPr lang="en-US" sz="1150" dirty="0">
                <a:solidFill>
                  <a:srgbClr val="8A3A22"/>
                </a:solidFill>
                <a:latin typeface="Calibri" pitchFamily="34" charset="0"/>
                <a:ea typeface="Calibri" pitchFamily="34" charset="-122"/>
                <a:cs typeface="Calibri" pitchFamily="34" charset="-120"/>
              </a:rPr>
              <a:t>cross-region</a:t>
            </a:r>
            <a:endParaRPr lang="en-US" sz="1150" dirty="0"/>
          </a:p>
        </p:txBody>
      </p:sp>
      <p:sp>
        <p:nvSpPr>
          <p:cNvPr id="26" name="Shape 24"/>
          <p:cNvSpPr/>
          <p:nvPr/>
        </p:nvSpPr>
        <p:spPr>
          <a:xfrm>
            <a:off x="5715000" y="3520440"/>
            <a:ext cx="2560320" cy="640080"/>
          </a:xfrm>
          <a:prstGeom prst="rect">
            <a:avLst/>
          </a:prstGeom>
          <a:solidFill>
            <a:srgbClr val="FBEAE4"/>
          </a:solidFill>
          <a:ln w="12700">
            <a:solidFill>
              <a:srgbClr val="C1502E"/>
            </a:solidFill>
            <a:prstDash val="solid"/>
          </a:ln>
        </p:spPr>
        <p:txBody>
          <a:bodyPr/>
          <a:lstStyle/>
          <a:p>
            <a:endParaRPr lang="en-PK"/>
          </a:p>
        </p:txBody>
      </p:sp>
      <p:sp>
        <p:nvSpPr>
          <p:cNvPr id="27" name="Text 25"/>
          <p:cNvSpPr/>
          <p:nvPr/>
        </p:nvSpPr>
        <p:spPr>
          <a:xfrm>
            <a:off x="5715000" y="3520440"/>
            <a:ext cx="2560320" cy="640080"/>
          </a:xfrm>
          <a:prstGeom prst="rect">
            <a:avLst/>
          </a:prstGeom>
          <a:noFill/>
          <a:ln/>
        </p:spPr>
        <p:txBody>
          <a:bodyPr wrap="square" rtlCol="0" anchor="ctr"/>
          <a:lstStyle/>
          <a:p>
            <a:pPr marL="0" indent="0" algn="ctr">
              <a:buNone/>
            </a:pPr>
            <a:r>
              <a:rPr lang="en-US" sz="1150" dirty="0">
                <a:solidFill>
                  <a:srgbClr val="8A3A22"/>
                </a:solidFill>
                <a:latin typeface="Calibri" pitchFamily="34" charset="0"/>
                <a:ea typeface="Calibri" pitchFamily="34" charset="-122"/>
                <a:cs typeface="Calibri" pitchFamily="34" charset="-120"/>
              </a:rPr>
              <a:t>cross-region</a:t>
            </a:r>
            <a:endParaRPr lang="en-US" sz="1150" dirty="0"/>
          </a:p>
        </p:txBody>
      </p:sp>
      <p:sp>
        <p:nvSpPr>
          <p:cNvPr id="28" name="Shape 26"/>
          <p:cNvSpPr/>
          <p:nvPr/>
        </p:nvSpPr>
        <p:spPr>
          <a:xfrm>
            <a:off x="8321040" y="3520440"/>
            <a:ext cx="2560320" cy="640080"/>
          </a:xfrm>
          <a:prstGeom prst="rect">
            <a:avLst/>
          </a:prstGeom>
          <a:solidFill>
            <a:srgbClr val="DCEEF4"/>
          </a:solidFill>
          <a:ln w="12700">
            <a:solidFill>
              <a:srgbClr val="1C7293"/>
            </a:solidFill>
            <a:prstDash val="solid"/>
          </a:ln>
        </p:spPr>
        <p:txBody>
          <a:bodyPr/>
          <a:lstStyle/>
          <a:p>
            <a:endParaRPr lang="en-PK"/>
          </a:p>
        </p:txBody>
      </p:sp>
      <p:sp>
        <p:nvSpPr>
          <p:cNvPr id="29" name="Text 27"/>
          <p:cNvSpPr/>
          <p:nvPr/>
        </p:nvSpPr>
        <p:spPr>
          <a:xfrm>
            <a:off x="8321040" y="3520440"/>
            <a:ext cx="2560320" cy="640080"/>
          </a:xfrm>
          <a:prstGeom prst="rect">
            <a:avLst/>
          </a:prstGeom>
          <a:noFill/>
          <a:ln/>
        </p:spPr>
        <p:txBody>
          <a:bodyPr wrap="square" rtlCol="0" anchor="ctr"/>
          <a:lstStyle/>
          <a:p>
            <a:pPr marL="0" indent="0" algn="ctr">
              <a:buNone/>
            </a:pPr>
            <a:r>
              <a:rPr lang="en-US" sz="1150" dirty="0">
                <a:solidFill>
                  <a:srgbClr val="065A82"/>
                </a:solidFill>
                <a:latin typeface="Calibri" pitchFamily="34" charset="0"/>
                <a:ea typeface="Calibri" pitchFamily="34" charset="-122"/>
                <a:cs typeface="Calibri" pitchFamily="34" charset="-120"/>
              </a:rPr>
              <a:t>in-domain</a:t>
            </a:r>
            <a:endParaRPr lang="en-US" sz="1150" dirty="0"/>
          </a:p>
        </p:txBody>
      </p:sp>
      <p:sp>
        <p:nvSpPr>
          <p:cNvPr id="30" name="Shape 28"/>
          <p:cNvSpPr/>
          <p:nvPr/>
        </p:nvSpPr>
        <p:spPr>
          <a:xfrm>
            <a:off x="548640" y="4526280"/>
            <a:ext cx="228600" cy="228600"/>
          </a:xfrm>
          <a:prstGeom prst="rect">
            <a:avLst/>
          </a:prstGeom>
          <a:solidFill>
            <a:srgbClr val="DCEEF4"/>
          </a:solidFill>
          <a:ln w="12700">
            <a:solidFill>
              <a:srgbClr val="1C7293"/>
            </a:solidFill>
            <a:prstDash val="solid"/>
          </a:ln>
        </p:spPr>
        <p:txBody>
          <a:bodyPr/>
          <a:lstStyle/>
          <a:p>
            <a:endParaRPr lang="en-PK"/>
          </a:p>
        </p:txBody>
      </p:sp>
      <p:sp>
        <p:nvSpPr>
          <p:cNvPr id="31" name="Text 29"/>
          <p:cNvSpPr/>
          <p:nvPr/>
        </p:nvSpPr>
        <p:spPr>
          <a:xfrm>
            <a:off x="868680" y="4498848"/>
            <a:ext cx="5486400" cy="274320"/>
          </a:xfrm>
          <a:prstGeom prst="rect">
            <a:avLst/>
          </a:prstGeom>
          <a:noFill/>
          <a:ln/>
        </p:spPr>
        <p:txBody>
          <a:bodyPr wrap="square" rtlCol="0" anchor="ctr"/>
          <a:lstStyle/>
          <a:p>
            <a:pPr marL="0" indent="0">
              <a:buNone/>
            </a:pPr>
            <a:r>
              <a:rPr lang="en-US" sz="1150" dirty="0">
                <a:solidFill>
                  <a:srgbClr val="1B2430"/>
                </a:solidFill>
                <a:latin typeface="Calibri" pitchFamily="34" charset="0"/>
                <a:ea typeface="Calibri" pitchFamily="34" charset="-122"/>
                <a:cs typeface="Calibri" pitchFamily="34" charset="-120"/>
              </a:rPr>
              <a:t>3 combinations — model evaluated on its own training region</a:t>
            </a:r>
            <a:endParaRPr lang="en-US" sz="1150" dirty="0"/>
          </a:p>
        </p:txBody>
      </p:sp>
      <p:sp>
        <p:nvSpPr>
          <p:cNvPr id="32" name="Shape 30"/>
          <p:cNvSpPr/>
          <p:nvPr/>
        </p:nvSpPr>
        <p:spPr>
          <a:xfrm>
            <a:off x="548640" y="4892040"/>
            <a:ext cx="228600" cy="228600"/>
          </a:xfrm>
          <a:prstGeom prst="rect">
            <a:avLst/>
          </a:prstGeom>
          <a:solidFill>
            <a:srgbClr val="FBEAE4"/>
          </a:solidFill>
          <a:ln w="12700">
            <a:solidFill>
              <a:srgbClr val="C1502E"/>
            </a:solidFill>
            <a:prstDash val="solid"/>
          </a:ln>
        </p:spPr>
        <p:txBody>
          <a:bodyPr/>
          <a:lstStyle/>
          <a:p>
            <a:endParaRPr lang="en-PK"/>
          </a:p>
        </p:txBody>
      </p:sp>
      <p:sp>
        <p:nvSpPr>
          <p:cNvPr id="33" name="Text 31"/>
          <p:cNvSpPr/>
          <p:nvPr/>
        </p:nvSpPr>
        <p:spPr>
          <a:xfrm>
            <a:off x="868680" y="4864608"/>
            <a:ext cx="5486400" cy="274320"/>
          </a:xfrm>
          <a:prstGeom prst="rect">
            <a:avLst/>
          </a:prstGeom>
          <a:noFill/>
          <a:ln/>
        </p:spPr>
        <p:txBody>
          <a:bodyPr wrap="square" rtlCol="0" anchor="ctr"/>
          <a:lstStyle/>
          <a:p>
            <a:pPr marL="0" indent="0">
              <a:buNone/>
            </a:pPr>
            <a:r>
              <a:rPr lang="en-US" sz="1150" dirty="0">
                <a:solidFill>
                  <a:srgbClr val="1B2430"/>
                </a:solidFill>
                <a:latin typeface="Calibri" pitchFamily="34" charset="0"/>
                <a:ea typeface="Calibri" pitchFamily="34" charset="-122"/>
                <a:cs typeface="Calibri" pitchFamily="34" charset="-120"/>
              </a:rPr>
              <a:t>6 combinations — model evaluated on an unseen region</a:t>
            </a:r>
            <a:endParaRPr lang="en-US" sz="1150" dirty="0"/>
          </a:p>
        </p:txBody>
      </p:sp>
      <p:sp>
        <p:nvSpPr>
          <p:cNvPr id="34" name="Text 32"/>
          <p:cNvSpPr/>
          <p:nvPr/>
        </p:nvSpPr>
        <p:spPr>
          <a:xfrm>
            <a:off x="548640" y="5349240"/>
            <a:ext cx="11064240" cy="457200"/>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Metrics reported: RMSE, MAE, R², Bias.</a:t>
            </a:r>
            <a:endParaRPr lang="en-US" sz="1100" dirty="0"/>
          </a:p>
        </p:txBody>
      </p:sp>
      <p:sp>
        <p:nvSpPr>
          <p:cNvPr id="35" name="Text 33"/>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B66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379476" y="525780"/>
            <a:ext cx="11064240" cy="640080"/>
          </a:xfrm>
          <a:prstGeom prst="rect">
            <a:avLst/>
          </a:prstGeom>
          <a:noFill/>
          <a:ln/>
        </p:spPr>
        <p:txBody>
          <a:bodyPr wrap="square" rtlCol="0" anchor="ctr"/>
          <a:lstStyle/>
          <a:p>
            <a:pPr marL="0" indent="0" algn="l">
              <a:buNone/>
            </a:pPr>
            <a:r>
              <a:rPr lang="en-US" sz="2800" b="1" dirty="0">
                <a:solidFill>
                  <a:srgbClr val="1B2430"/>
                </a:solidFill>
                <a:latin typeface="Cambria" pitchFamily="34" charset="0"/>
                <a:ea typeface="Cambria" pitchFamily="34" charset="-122"/>
                <a:cs typeface="Cambria" pitchFamily="34" charset="-120"/>
              </a:rPr>
              <a:t>Evaluation</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2113476317"/>
              </p:ext>
            </p:extLst>
          </p:nvPr>
        </p:nvGraphicFramePr>
        <p:xfrm>
          <a:off x="448056" y="1485900"/>
          <a:ext cx="11237976" cy="2743200"/>
        </p:xfrm>
        <a:graphic>
          <a:graphicData uri="http://schemas.openxmlformats.org/drawingml/2006/table">
            <a:tbl>
              <a:tblPr/>
              <a:tblGrid>
                <a:gridCol w="1691640">
                  <a:extLst>
                    <a:ext uri="{9D8B030D-6E8A-4147-A177-3AD203B41FA5}">
                      <a16:colId xmlns:a16="http://schemas.microsoft.com/office/drawing/2014/main" val="20000"/>
                    </a:ext>
                  </a:extLst>
                </a:gridCol>
                <a:gridCol w="795528">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795528">
                  <a:extLst>
                    <a:ext uri="{9D8B030D-6E8A-4147-A177-3AD203B41FA5}">
                      <a16:colId xmlns:a16="http://schemas.microsoft.com/office/drawing/2014/main" val="20004"/>
                    </a:ext>
                  </a:extLst>
                </a:gridCol>
                <a:gridCol w="795528">
                  <a:extLst>
                    <a:ext uri="{9D8B030D-6E8A-4147-A177-3AD203B41FA5}">
                      <a16:colId xmlns:a16="http://schemas.microsoft.com/office/drawing/2014/main" val="20005"/>
                    </a:ext>
                  </a:extLst>
                </a:gridCol>
                <a:gridCol w="795528">
                  <a:extLst>
                    <a:ext uri="{9D8B030D-6E8A-4147-A177-3AD203B41FA5}">
                      <a16:colId xmlns:a16="http://schemas.microsoft.com/office/drawing/2014/main" val="20006"/>
                    </a:ext>
                  </a:extLst>
                </a:gridCol>
                <a:gridCol w="795528">
                  <a:extLst>
                    <a:ext uri="{9D8B030D-6E8A-4147-A177-3AD203B41FA5}">
                      <a16:colId xmlns:a16="http://schemas.microsoft.com/office/drawing/2014/main" val="20007"/>
                    </a:ext>
                  </a:extLst>
                </a:gridCol>
                <a:gridCol w="795528">
                  <a:extLst>
                    <a:ext uri="{9D8B030D-6E8A-4147-A177-3AD203B41FA5}">
                      <a16:colId xmlns:a16="http://schemas.microsoft.com/office/drawing/2014/main" val="20008"/>
                    </a:ext>
                  </a:extLst>
                </a:gridCol>
                <a:gridCol w="795528">
                  <a:extLst>
                    <a:ext uri="{9D8B030D-6E8A-4147-A177-3AD203B41FA5}">
                      <a16:colId xmlns:a16="http://schemas.microsoft.com/office/drawing/2014/main" val="20009"/>
                    </a:ext>
                  </a:extLst>
                </a:gridCol>
                <a:gridCol w="795528">
                  <a:extLst>
                    <a:ext uri="{9D8B030D-6E8A-4147-A177-3AD203B41FA5}">
                      <a16:colId xmlns:a16="http://schemas.microsoft.com/office/drawing/2014/main" val="20010"/>
                    </a:ext>
                  </a:extLst>
                </a:gridCol>
                <a:gridCol w="795528">
                  <a:extLst>
                    <a:ext uri="{9D8B030D-6E8A-4147-A177-3AD203B41FA5}">
                      <a16:colId xmlns:a16="http://schemas.microsoft.com/office/drawing/2014/main" val="20011"/>
                    </a:ext>
                  </a:extLst>
                </a:gridCol>
                <a:gridCol w="795528">
                  <a:extLst>
                    <a:ext uri="{9D8B030D-6E8A-4147-A177-3AD203B41FA5}">
                      <a16:colId xmlns:a16="http://schemas.microsoft.com/office/drawing/2014/main" val="20012"/>
                    </a:ext>
                  </a:extLst>
                </a:gridCol>
              </a:tblGrid>
              <a:tr h="548640">
                <a:tc rowSpan="2">
                  <a:txBody>
                    <a:bodyPr/>
                    <a:lstStyle/>
                    <a:p>
                      <a:pPr marL="0" indent="0" algn="ctr">
                        <a:buNone/>
                      </a:pPr>
                      <a:r>
                        <a:rPr lang="en-US" sz="1100" b="1" dirty="0">
                          <a:solidFill>
                            <a:srgbClr val="FFFFFF"/>
                          </a:solidFill>
                        </a:rPr>
                        <a:t>Trained on</a:t>
                      </a: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1295C"/>
                    </a:solidFill>
                  </a:tcPr>
                </a:tc>
                <a:tc gridSpan="4">
                  <a:txBody>
                    <a:bodyPr/>
                    <a:lstStyle/>
                    <a:p>
                      <a:pPr marL="0" indent="0" algn="ctr">
                        <a:buNone/>
                      </a:pPr>
                      <a:r>
                        <a:rPr lang="en-US" sz="1100" b="1" dirty="0">
                          <a:solidFill>
                            <a:srgbClr val="FFFFFF"/>
                          </a:solidFill>
                        </a:rPr>
                        <a:t>South Asia (test)</a:t>
                      </a: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1295C"/>
                    </a:solidFill>
                  </a:tcPr>
                </a:tc>
                <a:tc hMerge="1">
                  <a:txBody>
                    <a:bodyPr/>
                    <a:lstStyle/>
                    <a:p>
                      <a:endParaRPr lang="en-PK"/>
                    </a:p>
                  </a:txBody>
                  <a:tcPr/>
                </a:tc>
                <a:tc hMerge="1">
                  <a:txBody>
                    <a:bodyPr/>
                    <a:lstStyle/>
                    <a:p>
                      <a:endParaRPr lang="en-PK"/>
                    </a:p>
                  </a:txBody>
                  <a:tcPr/>
                </a:tc>
                <a:tc hMerge="1">
                  <a:txBody>
                    <a:bodyPr/>
                    <a:lstStyle/>
                    <a:p>
                      <a:endParaRPr lang="en-PK"/>
                    </a:p>
                  </a:txBody>
                  <a:tcPr/>
                </a:tc>
                <a:tc gridSpan="4">
                  <a:txBody>
                    <a:bodyPr/>
                    <a:lstStyle/>
                    <a:p>
                      <a:pPr marL="0" indent="0" algn="ctr">
                        <a:buNone/>
                      </a:pPr>
                      <a:r>
                        <a:rPr lang="en-US" sz="1100" b="1" dirty="0">
                          <a:solidFill>
                            <a:srgbClr val="FFFFFF"/>
                          </a:solidFill>
                        </a:rPr>
                        <a:t>Punjab (test)</a:t>
                      </a: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1295C"/>
                    </a:solidFill>
                  </a:tcPr>
                </a:tc>
                <a:tc hMerge="1">
                  <a:txBody>
                    <a:bodyPr/>
                    <a:lstStyle/>
                    <a:p>
                      <a:endParaRPr lang="en-PK"/>
                    </a:p>
                  </a:txBody>
                  <a:tcPr/>
                </a:tc>
                <a:tc hMerge="1">
                  <a:txBody>
                    <a:bodyPr/>
                    <a:lstStyle/>
                    <a:p>
                      <a:endParaRPr lang="en-PK"/>
                    </a:p>
                  </a:txBody>
                  <a:tcPr/>
                </a:tc>
                <a:tc hMerge="1">
                  <a:txBody>
                    <a:bodyPr/>
                    <a:lstStyle/>
                    <a:p>
                      <a:endParaRPr lang="en-PK"/>
                    </a:p>
                  </a:txBody>
                  <a:tcPr/>
                </a:tc>
                <a:tc gridSpan="4">
                  <a:txBody>
                    <a:bodyPr/>
                    <a:lstStyle/>
                    <a:p>
                      <a:pPr marL="0" indent="0" algn="ctr">
                        <a:buNone/>
                      </a:pPr>
                      <a:r>
                        <a:rPr lang="en-US" sz="1100" b="1" dirty="0">
                          <a:solidFill>
                            <a:srgbClr val="FFFFFF"/>
                          </a:solidFill>
                        </a:rPr>
                        <a:t>Karnataka (test)</a:t>
                      </a: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1295C"/>
                    </a:solidFill>
                  </a:tcP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10000"/>
                  </a:ext>
                </a:extLst>
              </a:tr>
              <a:tr h="548640">
                <a:tc vMerge="1">
                  <a:txBody>
                    <a:bodyPr/>
                    <a:lstStyle/>
                    <a:p>
                      <a:endParaRPr lang="en-PK"/>
                    </a:p>
                  </a:txBody>
                  <a:tcPr/>
                </a:tc>
                <a:tc>
                  <a:txBody>
                    <a:bodyPr/>
                    <a:lstStyle/>
                    <a:p>
                      <a:pPr marL="0" indent="0" algn="ctr">
                        <a:buNone/>
                      </a:pPr>
                      <a:r>
                        <a:rPr lang="en-US" sz="1050" b="1" dirty="0">
                          <a:solidFill>
                            <a:srgbClr val="FFFFFF"/>
                          </a:solidFill>
                        </a:rPr>
                        <a:t>RMSE</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MAE</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R² %</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Bias</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RMSE</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MAE</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R² %</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Bias</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RMSE</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MAE</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R² %</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Bias</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5A82"/>
                    </a:solidFill>
                  </a:tcPr>
                </a:tc>
                <a:extLst>
                  <a:ext uri="{0D108BD9-81ED-4DB2-BD59-A6C34878D82A}">
                    <a16:rowId xmlns:a16="http://schemas.microsoft.com/office/drawing/2014/main" val="10001"/>
                  </a:ext>
                </a:extLst>
              </a:tr>
              <a:tr h="548640">
                <a:tc>
                  <a:txBody>
                    <a:bodyPr/>
                    <a:lstStyle/>
                    <a:p>
                      <a:pPr marL="0" indent="0">
                        <a:buNone/>
                      </a:pPr>
                      <a:r>
                        <a:rPr lang="en-US" sz="1100" b="1" dirty="0">
                          <a:solidFill>
                            <a:srgbClr val="FFFFFF"/>
                          </a:solidFill>
                        </a:rPr>
                        <a:t>South Asia model</a:t>
                      </a: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1295C"/>
                    </a:solidFill>
                  </a:tcPr>
                </a:tc>
                <a:tc>
                  <a:txBody>
                    <a:bodyPr/>
                    <a:lstStyle/>
                    <a:p>
                      <a:pPr marL="0" indent="0" algn="ctr">
                        <a:buNone/>
                      </a:pPr>
                      <a:r>
                        <a:rPr lang="en-US" sz="1050" b="1" dirty="0">
                          <a:solidFill>
                            <a:srgbClr val="065A82"/>
                          </a:solidFill>
                        </a:rPr>
                        <a:t>2.33</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6"/>
                    </a:solidFill>
                  </a:tcPr>
                </a:tc>
                <a:tc>
                  <a:txBody>
                    <a:bodyPr/>
                    <a:lstStyle/>
                    <a:p>
                      <a:pPr marL="0" indent="0" algn="ctr">
                        <a:buNone/>
                      </a:pPr>
                      <a:r>
                        <a:rPr lang="en-US" sz="1050" b="1" dirty="0">
                          <a:solidFill>
                            <a:srgbClr val="065A82"/>
                          </a:solidFill>
                        </a:rPr>
                        <a:t>1.65</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6"/>
                    </a:solidFill>
                  </a:tcPr>
                </a:tc>
                <a:tc>
                  <a:txBody>
                    <a:bodyPr/>
                    <a:lstStyle/>
                    <a:p>
                      <a:pPr marL="0" indent="0" algn="ctr">
                        <a:buNone/>
                      </a:pPr>
                      <a:r>
                        <a:rPr lang="en-US" sz="1050" b="1" dirty="0">
                          <a:solidFill>
                            <a:srgbClr val="065A82"/>
                          </a:solidFill>
                        </a:rPr>
                        <a:t>95.8</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6"/>
                    </a:solidFill>
                  </a:tcPr>
                </a:tc>
                <a:tc>
                  <a:txBody>
                    <a:bodyPr/>
                    <a:lstStyle/>
                    <a:p>
                      <a:pPr marL="0" indent="0" algn="ctr">
                        <a:buNone/>
                      </a:pPr>
                      <a:r>
                        <a:rPr lang="en-US" sz="1050" b="1" dirty="0">
                          <a:solidFill>
                            <a:srgbClr val="065A82"/>
                          </a:solidFill>
                        </a:rPr>
                        <a:t>-0.24</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6"/>
                    </a:solidFill>
                  </a:tcPr>
                </a:tc>
                <a:tc>
                  <a:txBody>
                    <a:bodyPr/>
                    <a:lstStyle/>
                    <a:p>
                      <a:pPr marL="0" indent="0" algn="ctr">
                        <a:buNone/>
                      </a:pPr>
                      <a:r>
                        <a:rPr lang="en-US" sz="1050" dirty="0">
                          <a:solidFill>
                            <a:srgbClr val="8A3A22"/>
                          </a:solidFill>
                        </a:rPr>
                        <a:t>8.13</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7.16</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2.4</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5.13</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3.27</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2.64</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0.0</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1.52</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extLst>
                  <a:ext uri="{0D108BD9-81ED-4DB2-BD59-A6C34878D82A}">
                    <a16:rowId xmlns:a16="http://schemas.microsoft.com/office/drawing/2014/main" val="10002"/>
                  </a:ext>
                </a:extLst>
              </a:tr>
              <a:tr h="548640">
                <a:tc>
                  <a:txBody>
                    <a:bodyPr/>
                    <a:lstStyle/>
                    <a:p>
                      <a:pPr marL="0" indent="0">
                        <a:buNone/>
                      </a:pPr>
                      <a:r>
                        <a:rPr lang="en-US" sz="1100" b="1" dirty="0">
                          <a:solidFill>
                            <a:srgbClr val="FFFFFF"/>
                          </a:solidFill>
                        </a:rPr>
                        <a:t>Punjab model</a:t>
                      </a: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1295C"/>
                    </a:solidFill>
                  </a:tcPr>
                </a:tc>
                <a:tc>
                  <a:txBody>
                    <a:bodyPr/>
                    <a:lstStyle/>
                    <a:p>
                      <a:pPr marL="0" indent="0" algn="ctr">
                        <a:buNone/>
                      </a:pPr>
                      <a:r>
                        <a:rPr lang="en-US" sz="1050" dirty="0">
                          <a:solidFill>
                            <a:srgbClr val="8A3A22"/>
                          </a:solidFill>
                        </a:rPr>
                        <a:t>25.52</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22.20</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0.0</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-21.32</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b="1" dirty="0">
                          <a:solidFill>
                            <a:srgbClr val="065A82"/>
                          </a:solidFill>
                        </a:rPr>
                        <a:t>1.78</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6"/>
                    </a:solidFill>
                  </a:tcPr>
                </a:tc>
                <a:tc>
                  <a:txBody>
                    <a:bodyPr/>
                    <a:lstStyle/>
                    <a:p>
                      <a:pPr marL="0" indent="0" algn="ctr">
                        <a:buNone/>
                      </a:pPr>
                      <a:r>
                        <a:rPr lang="en-US" sz="1050" b="1" dirty="0">
                          <a:solidFill>
                            <a:srgbClr val="065A82"/>
                          </a:solidFill>
                        </a:rPr>
                        <a:t>1.35</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6"/>
                    </a:solidFill>
                  </a:tcPr>
                </a:tc>
                <a:tc>
                  <a:txBody>
                    <a:bodyPr/>
                    <a:lstStyle/>
                    <a:p>
                      <a:pPr marL="0" indent="0" algn="ctr">
                        <a:buNone/>
                      </a:pPr>
                      <a:r>
                        <a:rPr lang="en-US" sz="1050" b="1" dirty="0">
                          <a:solidFill>
                            <a:srgbClr val="065A82"/>
                          </a:solidFill>
                        </a:rPr>
                        <a:t>82.3</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6"/>
                    </a:solidFill>
                  </a:tcPr>
                </a:tc>
                <a:tc>
                  <a:txBody>
                    <a:bodyPr/>
                    <a:lstStyle/>
                    <a:p>
                      <a:pPr marL="0" indent="0" algn="ctr">
                        <a:buNone/>
                      </a:pPr>
                      <a:r>
                        <a:rPr lang="en-US" sz="1050" b="1" dirty="0">
                          <a:solidFill>
                            <a:srgbClr val="065A82"/>
                          </a:solidFill>
                        </a:rPr>
                        <a:t>0.63</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6"/>
                    </a:solidFill>
                  </a:tcPr>
                </a:tc>
                <a:tc>
                  <a:txBody>
                    <a:bodyPr/>
                    <a:lstStyle/>
                    <a:p>
                      <a:pPr marL="0" indent="0" algn="ctr">
                        <a:buNone/>
                      </a:pPr>
                      <a:r>
                        <a:rPr lang="en-US" sz="1050" dirty="0">
                          <a:solidFill>
                            <a:srgbClr val="8A3A22"/>
                          </a:solidFill>
                        </a:rPr>
                        <a:t>35.94</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35.78</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0.0</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-35.78</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extLst>
                  <a:ext uri="{0D108BD9-81ED-4DB2-BD59-A6C34878D82A}">
                    <a16:rowId xmlns:a16="http://schemas.microsoft.com/office/drawing/2014/main" val="10003"/>
                  </a:ext>
                </a:extLst>
              </a:tr>
              <a:tr h="548640">
                <a:tc>
                  <a:txBody>
                    <a:bodyPr/>
                    <a:lstStyle/>
                    <a:p>
                      <a:pPr marL="0" indent="0">
                        <a:buNone/>
                      </a:pPr>
                      <a:r>
                        <a:rPr lang="en-US" sz="1100" b="1" dirty="0">
                          <a:solidFill>
                            <a:srgbClr val="FFFFFF"/>
                          </a:solidFill>
                        </a:rPr>
                        <a:t>Karnataka model</a:t>
                      </a: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1295C"/>
                    </a:solidFill>
                  </a:tcPr>
                </a:tc>
                <a:tc>
                  <a:txBody>
                    <a:bodyPr/>
                    <a:lstStyle/>
                    <a:p>
                      <a:pPr marL="0" indent="0" algn="ctr">
                        <a:buNone/>
                      </a:pPr>
                      <a:r>
                        <a:rPr lang="en-US" sz="1050" dirty="0">
                          <a:solidFill>
                            <a:srgbClr val="8A3A22"/>
                          </a:solidFill>
                        </a:rPr>
                        <a:t>19.10</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16.72</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0.0</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-11.63</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19.92</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18.35</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0.0</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dirty="0">
                          <a:solidFill>
                            <a:srgbClr val="8A3A22"/>
                          </a:solidFill>
                        </a:rPr>
                        <a:t>-17.42</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FEA"/>
                    </a:solidFill>
                  </a:tcPr>
                </a:tc>
                <a:tc>
                  <a:txBody>
                    <a:bodyPr/>
                    <a:lstStyle/>
                    <a:p>
                      <a:pPr marL="0" indent="0" algn="ctr">
                        <a:buNone/>
                      </a:pPr>
                      <a:r>
                        <a:rPr lang="en-US" sz="1050" b="1" dirty="0">
                          <a:solidFill>
                            <a:srgbClr val="065A82"/>
                          </a:solidFill>
                        </a:rPr>
                        <a:t>0.93</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6"/>
                    </a:solidFill>
                  </a:tcPr>
                </a:tc>
                <a:tc>
                  <a:txBody>
                    <a:bodyPr/>
                    <a:lstStyle/>
                    <a:p>
                      <a:pPr marL="0" indent="0" algn="ctr">
                        <a:buNone/>
                      </a:pPr>
                      <a:r>
                        <a:rPr lang="en-US" sz="1050" b="1" dirty="0">
                          <a:solidFill>
                            <a:srgbClr val="065A82"/>
                          </a:solidFill>
                        </a:rPr>
                        <a:t>0.75</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6"/>
                    </a:solidFill>
                  </a:tcPr>
                </a:tc>
                <a:tc>
                  <a:txBody>
                    <a:bodyPr/>
                    <a:lstStyle/>
                    <a:p>
                      <a:pPr marL="0" indent="0" algn="ctr">
                        <a:buNone/>
                      </a:pPr>
                      <a:r>
                        <a:rPr lang="en-US" sz="1050" b="1" dirty="0">
                          <a:solidFill>
                            <a:srgbClr val="065A82"/>
                          </a:solidFill>
                        </a:rPr>
                        <a:t>70.1</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6"/>
                    </a:solidFill>
                  </a:tcPr>
                </a:tc>
                <a:tc>
                  <a:txBody>
                    <a:bodyPr/>
                    <a:lstStyle/>
                    <a:p>
                      <a:pPr marL="0" indent="0" algn="ctr">
                        <a:buNone/>
                      </a:pPr>
                      <a:r>
                        <a:rPr lang="en-US" sz="1050" b="1" dirty="0">
                          <a:solidFill>
                            <a:srgbClr val="065A82"/>
                          </a:solidFill>
                        </a:rPr>
                        <a:t>0.20</a:t>
                      </a:r>
                      <a:endParaRPr lang="en-US" sz="105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6"/>
                    </a:solidFill>
                  </a:tcPr>
                </a:tc>
                <a:extLst>
                  <a:ext uri="{0D108BD9-81ED-4DB2-BD59-A6C34878D82A}">
                    <a16:rowId xmlns:a16="http://schemas.microsoft.com/office/drawing/2014/main" val="10004"/>
                  </a:ext>
                </a:extLst>
              </a:tr>
            </a:tbl>
          </a:graphicData>
        </a:graphic>
      </p:graphicFrame>
      <p:sp>
        <p:nvSpPr>
          <p:cNvPr id="5" name="Shape 2"/>
          <p:cNvSpPr/>
          <p:nvPr/>
        </p:nvSpPr>
        <p:spPr>
          <a:xfrm>
            <a:off x="448056" y="4594860"/>
            <a:ext cx="5440680" cy="1417320"/>
          </a:xfrm>
          <a:prstGeom prst="rect">
            <a:avLst/>
          </a:prstGeom>
          <a:solidFill>
            <a:srgbClr val="E7F2F6"/>
          </a:solidFill>
          <a:ln/>
        </p:spPr>
        <p:txBody>
          <a:bodyPr/>
          <a:lstStyle/>
          <a:p>
            <a:endParaRPr lang="en-PK"/>
          </a:p>
        </p:txBody>
      </p:sp>
      <p:sp>
        <p:nvSpPr>
          <p:cNvPr id="6" name="Text 3"/>
          <p:cNvSpPr/>
          <p:nvPr/>
        </p:nvSpPr>
        <p:spPr>
          <a:xfrm>
            <a:off x="608076" y="4754880"/>
            <a:ext cx="5029200" cy="274320"/>
          </a:xfrm>
          <a:prstGeom prst="rect">
            <a:avLst/>
          </a:prstGeom>
          <a:noFill/>
          <a:ln/>
        </p:spPr>
        <p:txBody>
          <a:bodyPr wrap="square"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Diagonal (in-domain)</a:t>
            </a:r>
            <a:endParaRPr lang="en-US" sz="1300" dirty="0"/>
          </a:p>
        </p:txBody>
      </p:sp>
      <p:sp>
        <p:nvSpPr>
          <p:cNvPr id="7" name="Text 4"/>
          <p:cNvSpPr/>
          <p:nvPr/>
        </p:nvSpPr>
        <p:spPr>
          <a:xfrm>
            <a:off x="608076" y="5074920"/>
            <a:ext cx="5029200" cy="914400"/>
          </a:xfrm>
          <a:prstGeom prst="rect">
            <a:avLst/>
          </a:prstGeom>
          <a:noFill/>
          <a:ln/>
        </p:spPr>
        <p:txBody>
          <a:bodyPr wrap="square" rtlCol="0" anchor="ctr"/>
          <a:lstStyle/>
          <a:p>
            <a:pPr marL="0" indent="0">
              <a:lnSpc>
                <a:spcPct val="120000"/>
              </a:lnSpc>
              <a:buNone/>
            </a:pPr>
            <a:r>
              <a:rPr lang="en-US" sz="1200" dirty="0">
                <a:solidFill>
                  <a:srgbClr val="1B2430"/>
                </a:solidFill>
                <a:latin typeface="Calibri" pitchFamily="34" charset="0"/>
                <a:ea typeface="Calibri" pitchFamily="34" charset="-122"/>
                <a:cs typeface="Calibri" pitchFamily="34" charset="-120"/>
              </a:rPr>
              <a:t>R² 82–96%, RMSE 0.9–2.3 K showing strong, comparable to the resolution zero-shot behavior reported in the original paper.</a:t>
            </a:r>
            <a:endParaRPr lang="en-US" sz="1200" dirty="0"/>
          </a:p>
        </p:txBody>
      </p:sp>
      <p:sp>
        <p:nvSpPr>
          <p:cNvPr id="8" name="Shape 5"/>
          <p:cNvSpPr/>
          <p:nvPr/>
        </p:nvSpPr>
        <p:spPr>
          <a:xfrm>
            <a:off x="6163056" y="4594860"/>
            <a:ext cx="5532120" cy="1417320"/>
          </a:xfrm>
          <a:prstGeom prst="rect">
            <a:avLst/>
          </a:prstGeom>
          <a:solidFill>
            <a:srgbClr val="FCEFEA"/>
          </a:solidFill>
          <a:ln/>
        </p:spPr>
        <p:txBody>
          <a:bodyPr/>
          <a:lstStyle/>
          <a:p>
            <a:endParaRPr lang="en-PK"/>
          </a:p>
        </p:txBody>
      </p:sp>
      <p:sp>
        <p:nvSpPr>
          <p:cNvPr id="4" name="Text 6"/>
          <p:cNvSpPr/>
          <p:nvPr/>
        </p:nvSpPr>
        <p:spPr>
          <a:xfrm>
            <a:off x="6323076" y="4754880"/>
            <a:ext cx="5120640" cy="274320"/>
          </a:xfrm>
          <a:prstGeom prst="rect">
            <a:avLst/>
          </a:prstGeom>
          <a:noFill/>
          <a:ln/>
        </p:spPr>
        <p:txBody>
          <a:bodyPr wrap="square" rtlCol="0" anchor="ctr"/>
          <a:lstStyle/>
          <a:p>
            <a:pPr marL="0" indent="0">
              <a:buNone/>
            </a:pPr>
            <a:r>
              <a:rPr lang="en-US" sz="1300" b="1" dirty="0">
                <a:solidFill>
                  <a:srgbClr val="C1502E"/>
                </a:solidFill>
                <a:latin typeface="Cambria" pitchFamily="34" charset="0"/>
                <a:ea typeface="Cambria" pitchFamily="34" charset="-122"/>
                <a:cs typeface="Cambria" pitchFamily="34" charset="-120"/>
              </a:rPr>
              <a:t>Off-diagonal (cross-region)</a:t>
            </a:r>
            <a:endParaRPr lang="en-US" sz="1300" dirty="0"/>
          </a:p>
        </p:txBody>
      </p:sp>
      <p:sp>
        <p:nvSpPr>
          <p:cNvPr id="10" name="Text 7"/>
          <p:cNvSpPr/>
          <p:nvPr/>
        </p:nvSpPr>
        <p:spPr>
          <a:xfrm>
            <a:off x="6323076" y="5074920"/>
            <a:ext cx="5120640" cy="914400"/>
          </a:xfrm>
          <a:prstGeom prst="rect">
            <a:avLst/>
          </a:prstGeom>
          <a:noFill/>
          <a:ln/>
        </p:spPr>
        <p:txBody>
          <a:bodyPr wrap="square" rtlCol="0" anchor="ctr"/>
          <a:lstStyle/>
          <a:p>
            <a:pPr marL="0" indent="0">
              <a:lnSpc>
                <a:spcPct val="120000"/>
              </a:lnSpc>
              <a:buNone/>
            </a:pPr>
            <a:r>
              <a:rPr lang="en-US" sz="1200" dirty="0">
                <a:solidFill>
                  <a:srgbClr val="1B2430"/>
                </a:solidFill>
                <a:latin typeface="Calibri" pitchFamily="34" charset="0"/>
                <a:ea typeface="Calibri" pitchFamily="34" charset="-122"/>
                <a:cs typeface="Calibri" pitchFamily="34" charset="-120"/>
              </a:rPr>
              <a:t>R² collapses to 0% in all 6 combinations; RMSE / bias errors reach 20–36 K. Showing model barely extrapolates on foreign region domain.</a:t>
            </a:r>
            <a:endParaRPr lang="en-US" sz="1200" dirty="0"/>
          </a:p>
        </p:txBody>
      </p:sp>
      <p:sp>
        <p:nvSpPr>
          <p:cNvPr id="11" name="Text 8"/>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B66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411480"/>
            <a:ext cx="11064240" cy="640080"/>
          </a:xfrm>
          <a:prstGeom prst="rect">
            <a:avLst/>
          </a:prstGeom>
          <a:noFill/>
          <a:ln/>
        </p:spPr>
        <p:txBody>
          <a:bodyPr wrap="square" rtlCol="0" anchor="ctr"/>
          <a:lstStyle/>
          <a:p>
            <a:pPr marL="0" indent="0" algn="l">
              <a:buNone/>
            </a:pPr>
            <a:r>
              <a:rPr lang="en-US" sz="2800" b="1" dirty="0">
                <a:solidFill>
                  <a:srgbClr val="1B2430"/>
                </a:solidFill>
                <a:latin typeface="Cambria" pitchFamily="34" charset="0"/>
                <a:ea typeface="Cambria" pitchFamily="34" charset="-122"/>
                <a:cs typeface="Cambria" pitchFamily="34" charset="-120"/>
              </a:rPr>
              <a:t>Findings</a:t>
            </a:r>
            <a:endParaRPr lang="en-US" sz="2800" dirty="0"/>
          </a:p>
        </p:txBody>
      </p:sp>
      <p:sp>
        <p:nvSpPr>
          <p:cNvPr id="4" name="Text 2"/>
          <p:cNvSpPr/>
          <p:nvPr/>
        </p:nvSpPr>
        <p:spPr>
          <a:xfrm>
            <a:off x="548640" y="1188720"/>
            <a:ext cx="10972800" cy="457200"/>
          </a:xfrm>
          <a:prstGeom prst="rect">
            <a:avLst/>
          </a:prstGeom>
          <a:noFill/>
          <a:ln/>
        </p:spPr>
        <p:txBody>
          <a:bodyPr wrap="square" rtlCol="0" anchor="ctr"/>
          <a:lstStyle/>
          <a:p>
            <a:pPr marL="0" indent="0">
              <a:buNone/>
            </a:pPr>
            <a:r>
              <a:rPr lang="en-US" sz="1350" dirty="0">
                <a:latin typeface="Calibri" pitchFamily="34" charset="0"/>
                <a:ea typeface="Calibri" pitchFamily="34" charset="-122"/>
                <a:cs typeface="Calibri" pitchFamily="34" charset="-120"/>
              </a:rPr>
              <a:t>The original paper's zero-shot claim is about resolution, not spatial domain and this distinction explains the collapse.</a:t>
            </a:r>
            <a:endParaRPr lang="en-US" sz="1350" dirty="0"/>
          </a:p>
        </p:txBody>
      </p:sp>
      <p:sp>
        <p:nvSpPr>
          <p:cNvPr id="5" name="Shape 3"/>
          <p:cNvSpPr/>
          <p:nvPr/>
        </p:nvSpPr>
        <p:spPr>
          <a:xfrm>
            <a:off x="548640" y="1828800"/>
            <a:ext cx="3611880" cy="3840480"/>
          </a:xfrm>
          <a:prstGeom prst="rect">
            <a:avLst/>
          </a:prstGeom>
          <a:solidFill>
            <a:srgbClr val="F7F9FA"/>
          </a:solidFill>
          <a:ln w="12700">
            <a:solidFill>
              <a:srgbClr val="DCE3E8"/>
            </a:solidFill>
            <a:prstDash val="solid"/>
          </a:ln>
        </p:spPr>
        <p:txBody>
          <a:bodyPr/>
          <a:lstStyle/>
          <a:p>
            <a:endParaRPr lang="en-PK"/>
          </a:p>
        </p:txBody>
      </p:sp>
      <p:sp>
        <p:nvSpPr>
          <p:cNvPr id="6" name="Text 4"/>
          <p:cNvSpPr/>
          <p:nvPr/>
        </p:nvSpPr>
        <p:spPr>
          <a:xfrm>
            <a:off x="777240" y="2103120"/>
            <a:ext cx="3154680" cy="822960"/>
          </a:xfrm>
          <a:prstGeom prst="rect">
            <a:avLst/>
          </a:prstGeom>
          <a:noFill/>
          <a:ln/>
        </p:spPr>
        <p:txBody>
          <a:bodyPr wrap="square" rtlCol="0" anchor="ctr"/>
          <a:lstStyle/>
          <a:p>
            <a:pPr marL="0" indent="0">
              <a:lnSpc>
                <a:spcPct val="110000"/>
              </a:lnSpc>
              <a:buNone/>
            </a:pPr>
            <a:r>
              <a:rPr lang="en-US" sz="1450" b="1" dirty="0">
                <a:latin typeface="Cambria" pitchFamily="34" charset="0"/>
                <a:ea typeface="Cambria" pitchFamily="34" charset="-122"/>
              </a:rPr>
              <a:t>Zero-shot super-resolution</a:t>
            </a:r>
            <a:endParaRPr lang="en-US" sz="1450" dirty="0"/>
          </a:p>
        </p:txBody>
      </p:sp>
      <p:sp>
        <p:nvSpPr>
          <p:cNvPr id="7" name="Text 5"/>
          <p:cNvSpPr/>
          <p:nvPr/>
        </p:nvSpPr>
        <p:spPr>
          <a:xfrm>
            <a:off x="777240" y="2974388"/>
            <a:ext cx="3154680" cy="1347446"/>
          </a:xfrm>
          <a:prstGeom prst="rect">
            <a:avLst/>
          </a:prstGeom>
          <a:noFill/>
          <a:ln/>
        </p:spPr>
        <p:txBody>
          <a:bodyPr wrap="square" rtlCol="0" anchor="ctr"/>
          <a:lstStyle/>
          <a:p>
            <a:pPr marL="0" indent="0">
              <a:lnSpc>
                <a:spcPct val="125000"/>
              </a:lnSpc>
              <a:buNone/>
            </a:pPr>
            <a:r>
              <a:rPr lang="en-US" sz="1200" dirty="0">
                <a:solidFill>
                  <a:srgbClr val="1B2430"/>
                </a:solidFill>
                <a:latin typeface="Calibri" pitchFamily="34" charset="0"/>
                <a:ea typeface="Calibri" pitchFamily="34" charset="-122"/>
                <a:cs typeface="Calibri" pitchFamily="34" charset="-120"/>
              </a:rPr>
              <a:t>A model trained on a fixed coordinate domain (e.g. the unit square) reconstructs accurately at grid resolutions never explicitly seen because the SIREN trunk is a continuous function of coordinates, not a fixed-resolution grid.</a:t>
            </a:r>
            <a:endParaRPr lang="en-US" sz="1200" dirty="0"/>
          </a:p>
        </p:txBody>
      </p:sp>
      <p:sp>
        <p:nvSpPr>
          <p:cNvPr id="8" name="Shape 6"/>
          <p:cNvSpPr/>
          <p:nvPr/>
        </p:nvSpPr>
        <p:spPr>
          <a:xfrm>
            <a:off x="4343400" y="1828800"/>
            <a:ext cx="3611880" cy="3840480"/>
          </a:xfrm>
          <a:prstGeom prst="rect">
            <a:avLst/>
          </a:prstGeom>
          <a:solidFill>
            <a:srgbClr val="F7F9FA"/>
          </a:solidFill>
          <a:ln w="12700">
            <a:solidFill>
              <a:srgbClr val="DCE3E8"/>
            </a:solidFill>
            <a:prstDash val="solid"/>
          </a:ln>
        </p:spPr>
        <p:txBody>
          <a:bodyPr/>
          <a:lstStyle/>
          <a:p>
            <a:endParaRPr lang="en-PK"/>
          </a:p>
        </p:txBody>
      </p:sp>
      <p:sp>
        <p:nvSpPr>
          <p:cNvPr id="9" name="Text 7"/>
          <p:cNvSpPr/>
          <p:nvPr/>
        </p:nvSpPr>
        <p:spPr>
          <a:xfrm>
            <a:off x="4572000" y="2103120"/>
            <a:ext cx="3154680" cy="822960"/>
          </a:xfrm>
          <a:prstGeom prst="rect">
            <a:avLst/>
          </a:prstGeom>
          <a:noFill/>
          <a:ln/>
        </p:spPr>
        <p:txBody>
          <a:bodyPr wrap="square" rtlCol="0" anchor="ctr"/>
          <a:lstStyle/>
          <a:p>
            <a:pPr marL="0" indent="0">
              <a:lnSpc>
                <a:spcPct val="110000"/>
              </a:lnSpc>
              <a:buNone/>
            </a:pPr>
            <a:r>
              <a:rPr lang="en-US" sz="1450" b="1" dirty="0">
                <a:latin typeface="Cambria" pitchFamily="34" charset="0"/>
                <a:ea typeface="Cambria" pitchFamily="34" charset="-122"/>
                <a:cs typeface="Cambria" pitchFamily="34" charset="-120"/>
              </a:rPr>
              <a:t>Domain generalization</a:t>
            </a:r>
            <a:endParaRPr lang="en-US" sz="1450" dirty="0"/>
          </a:p>
          <a:p>
            <a:pPr marL="0" indent="0">
              <a:lnSpc>
                <a:spcPct val="110000"/>
              </a:lnSpc>
              <a:buNone/>
            </a:pPr>
            <a:r>
              <a:rPr lang="en-US" sz="1450" b="1" dirty="0">
                <a:latin typeface="Cambria" pitchFamily="34" charset="0"/>
                <a:ea typeface="Cambria" pitchFamily="34" charset="-122"/>
                <a:cs typeface="Cambria" pitchFamily="34" charset="-120"/>
              </a:rPr>
              <a:t>(failure)</a:t>
            </a:r>
            <a:endParaRPr lang="en-US" sz="1450" dirty="0"/>
          </a:p>
        </p:txBody>
      </p:sp>
      <p:sp>
        <p:nvSpPr>
          <p:cNvPr id="10" name="Text 8"/>
          <p:cNvSpPr/>
          <p:nvPr/>
        </p:nvSpPr>
        <p:spPr>
          <a:xfrm>
            <a:off x="4572000" y="3017520"/>
            <a:ext cx="3154680" cy="2651760"/>
          </a:xfrm>
          <a:prstGeom prst="rect">
            <a:avLst/>
          </a:prstGeom>
          <a:noFill/>
          <a:ln/>
        </p:spPr>
        <p:txBody>
          <a:bodyPr wrap="square" rtlCol="0" anchor="ctr"/>
          <a:lstStyle/>
          <a:p>
            <a:pPr marL="0" indent="0">
              <a:lnSpc>
                <a:spcPct val="125000"/>
              </a:lnSpc>
              <a:buNone/>
            </a:pPr>
            <a:endParaRPr lang="en-US" sz="1200" dirty="0"/>
          </a:p>
        </p:txBody>
      </p:sp>
      <p:sp>
        <p:nvSpPr>
          <p:cNvPr id="11" name="Shape 9"/>
          <p:cNvSpPr/>
          <p:nvPr/>
        </p:nvSpPr>
        <p:spPr>
          <a:xfrm>
            <a:off x="8138160" y="1737360"/>
            <a:ext cx="3611880" cy="3931920"/>
          </a:xfrm>
          <a:prstGeom prst="rect">
            <a:avLst/>
          </a:prstGeom>
          <a:solidFill>
            <a:srgbClr val="F7F9FA"/>
          </a:solidFill>
          <a:ln w="12700">
            <a:solidFill>
              <a:srgbClr val="DCE3E8"/>
            </a:solidFill>
            <a:prstDash val="solid"/>
          </a:ln>
        </p:spPr>
        <p:txBody>
          <a:bodyPr/>
          <a:lstStyle/>
          <a:p>
            <a:endParaRPr lang="en-PK"/>
          </a:p>
        </p:txBody>
      </p:sp>
      <p:sp>
        <p:nvSpPr>
          <p:cNvPr id="12" name="Text 10"/>
          <p:cNvSpPr/>
          <p:nvPr/>
        </p:nvSpPr>
        <p:spPr>
          <a:xfrm>
            <a:off x="8366760" y="2000465"/>
            <a:ext cx="3154680" cy="822960"/>
          </a:xfrm>
          <a:prstGeom prst="rect">
            <a:avLst/>
          </a:prstGeom>
          <a:noFill/>
          <a:ln/>
        </p:spPr>
        <p:txBody>
          <a:bodyPr wrap="square" rtlCol="0" anchor="ctr"/>
          <a:lstStyle/>
          <a:p>
            <a:pPr marL="0" indent="0">
              <a:lnSpc>
                <a:spcPct val="110000"/>
              </a:lnSpc>
              <a:buNone/>
            </a:pPr>
            <a:r>
              <a:rPr lang="en-US" sz="1450" b="1" dirty="0">
                <a:latin typeface="Cambria" pitchFamily="34" charset="0"/>
                <a:ea typeface="Cambria" pitchFamily="34" charset="-122"/>
                <a:cs typeface="Cambria" pitchFamily="34" charset="-120"/>
              </a:rPr>
              <a:t>Compounding failure</a:t>
            </a:r>
            <a:endParaRPr lang="en-US" sz="1450" dirty="0"/>
          </a:p>
        </p:txBody>
      </p:sp>
      <p:sp>
        <p:nvSpPr>
          <p:cNvPr id="13" name="Text 11"/>
          <p:cNvSpPr/>
          <p:nvPr/>
        </p:nvSpPr>
        <p:spPr>
          <a:xfrm>
            <a:off x="8366760" y="2823425"/>
            <a:ext cx="3154680" cy="1649371"/>
          </a:xfrm>
          <a:prstGeom prst="rect">
            <a:avLst/>
          </a:prstGeom>
          <a:noFill/>
          <a:ln/>
        </p:spPr>
        <p:txBody>
          <a:bodyPr wrap="square" rtlCol="0" anchor="ctr"/>
          <a:lstStyle/>
          <a:p>
            <a:pPr marL="0" indent="0">
              <a:lnSpc>
                <a:spcPct val="125000"/>
              </a:lnSpc>
              <a:buNone/>
            </a:pPr>
            <a:r>
              <a:rPr lang="en-US" sz="1200" dirty="0">
                <a:solidFill>
                  <a:srgbClr val="1B2430"/>
                </a:solidFill>
                <a:latin typeface="Calibri" pitchFamily="34" charset="0"/>
                <a:ea typeface="Calibri" pitchFamily="34" charset="-122"/>
                <a:cs typeface="Calibri" pitchFamily="34" charset="-120"/>
              </a:rPr>
              <a:t>The branch network has no explicit notion of location either. So, it also produces out-of-distribution coefficients for spatial patterns unlike training. Trunk and branch fail together, giving collapse rather than graceful degradation.</a:t>
            </a:r>
            <a:endParaRPr lang="en-US" sz="1200" dirty="0"/>
          </a:p>
        </p:txBody>
      </p:sp>
      <p:sp>
        <p:nvSpPr>
          <p:cNvPr id="14" name="Text 12"/>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B6673"/>
                </a:solidFill>
                <a:latin typeface="Calibri" pitchFamily="34" charset="0"/>
                <a:ea typeface="Calibri" pitchFamily="34" charset="-122"/>
                <a:cs typeface="Calibri" pitchFamily="34" charset="-120"/>
              </a:rPr>
              <a:t>9</a:t>
            </a:r>
            <a:endParaRPr lang="en-US" sz="1000" dirty="0"/>
          </a:p>
        </p:txBody>
      </p:sp>
      <p:sp>
        <p:nvSpPr>
          <p:cNvPr id="18" name="Text 5">
            <a:extLst>
              <a:ext uri="{FF2B5EF4-FFF2-40B4-BE49-F238E27FC236}">
                <a16:creationId xmlns:a16="http://schemas.microsoft.com/office/drawing/2014/main" id="{1CF10257-38B8-7A76-E320-90FFB739FB47}"/>
              </a:ext>
            </a:extLst>
          </p:cNvPr>
          <p:cNvSpPr/>
          <p:nvPr/>
        </p:nvSpPr>
        <p:spPr>
          <a:xfrm>
            <a:off x="4503420" y="2947359"/>
            <a:ext cx="3154680" cy="2435524"/>
          </a:xfrm>
          <a:prstGeom prst="rect">
            <a:avLst/>
          </a:prstGeom>
          <a:noFill/>
          <a:ln/>
        </p:spPr>
        <p:txBody>
          <a:bodyPr wrap="square" rtlCol="0" anchor="ctr"/>
          <a:lstStyle/>
          <a:p>
            <a:pPr marL="0" indent="0">
              <a:lnSpc>
                <a:spcPct val="125000"/>
              </a:lnSpc>
              <a:buNone/>
            </a:pPr>
            <a:r>
              <a:rPr lang="en-US" sz="1200" dirty="0">
                <a:solidFill>
                  <a:srgbClr val="1B2430"/>
                </a:solidFill>
                <a:latin typeface="Calibri" pitchFamily="34" charset="0"/>
                <a:ea typeface="Calibri" pitchFamily="34" charset="-122"/>
                <a:cs typeface="Calibri" pitchFamily="34" charset="-120"/>
              </a:rPr>
              <a:t>Although, an effort was made to use global normalization for coordinates domain as [-1,1] and all coordinates bounds for all three datasets lie absolutely in it. It although aligned the coordinates in output but still failed to super resolve. It’s because the SIREN learned the geospatial knowledge of a particular domain of dataset it was trained on. Hence, the super resolution wasn’t cross-region generalized.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1296</Words>
  <Application>Microsoft Office PowerPoint</Application>
  <PresentationFormat>Widescreen</PresentationFormat>
  <Paragraphs>228</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Daniyal Hussain Shah</cp:lastModifiedBy>
  <cp:revision>2</cp:revision>
  <dcterms:created xsi:type="dcterms:W3CDTF">2026-08-09T16:34:40Z</dcterms:created>
  <dcterms:modified xsi:type="dcterms:W3CDTF">2026-08-09T17:42:04Z</dcterms:modified>
</cp:coreProperties>
</file>